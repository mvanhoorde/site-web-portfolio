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y6fIDGPerc" TargetMode="External"/><Relationship Id="rId3" Type="http://schemas.openxmlformats.org/officeDocument/2006/relationships/hyperlink" Target="https://www.youtube.com/watch?v=Xy6fIDGPerc" TargetMode="External"/><Relationship Id="rId1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3c1-micro-filigra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" y="1170432"/>
            <a:ext cx="146304" cy="146304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4" name="Shape 1"/>
          <p:cNvSpPr/>
          <p:nvPr/>
        </p:nvSpPr>
        <p:spPr>
          <a:xfrm>
            <a:off x="1179576" y="1170432"/>
            <a:ext cx="146304" cy="146304"/>
          </a:xfrm>
          <a:prstGeom prst="ellipse">
            <a:avLst/>
          </a:prstGeom>
          <a:solidFill>
            <a:srgbClr val="1D9AAA"/>
          </a:solidFill>
          <a:ln/>
        </p:spPr>
      </p:sp>
      <p:sp>
        <p:nvSpPr>
          <p:cNvPr id="5" name="Shape 2"/>
          <p:cNvSpPr/>
          <p:nvPr/>
        </p:nvSpPr>
        <p:spPr>
          <a:xfrm>
            <a:off x="1490472" y="1170432"/>
            <a:ext cx="146304" cy="146304"/>
          </a:xfrm>
          <a:prstGeom prst="ellipse">
            <a:avLst/>
          </a:prstGeom>
          <a:solidFill>
            <a:srgbClr val="D6402B"/>
          </a:solidFill>
          <a:ln/>
        </p:spPr>
      </p:sp>
      <p:sp>
        <p:nvSpPr>
          <p:cNvPr id="6" name="Shape 3"/>
          <p:cNvSpPr/>
          <p:nvPr/>
        </p:nvSpPr>
        <p:spPr>
          <a:xfrm>
            <a:off x="9098280" y="4114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DFCF8"/>
          </a:solidFill>
          <a:ln/>
        </p:spPr>
      </p:sp>
      <p:pic>
        <p:nvPicPr>
          <p:cNvPr id="7" name="Image 1" descr="img/logo-lyc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566928"/>
            <a:ext cx="2240280" cy="1152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1481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 : SECONDE GÉNÉRALE   ·   PHYSIQUE-CHIMIE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148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Thème 3 — Ondes et signaux</a:t>
            </a:r>
            <a:endParaRPr lang="en-US" sz="4000" dirty="0"/>
          </a:p>
        </p:txBody>
      </p:sp>
      <p:sp>
        <p:nvSpPr>
          <p:cNvPr id="10" name="Shape 6"/>
          <p:cNvSpPr/>
          <p:nvPr/>
        </p:nvSpPr>
        <p:spPr>
          <a:xfrm>
            <a:off x="868680" y="3127248"/>
            <a:ext cx="2377440" cy="0"/>
          </a:xfrm>
          <a:prstGeom prst="line">
            <a:avLst/>
          </a:prstGeom>
          <a:noFill/>
          <a:ln w="25400">
            <a:solidFill>
              <a:srgbClr val="1D9AA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337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Chapitre 1 — Émission et perception d'un son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22960" y="4617720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1E2536"/>
          </a:solidFill>
          <a:ln w="12700">
            <a:solidFill>
              <a:srgbClr val="B28A1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51560" y="4818888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51560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481328" y="46177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pictogramme signale ce qui doit figurer sur ta fiche.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5760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Van Hoorde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Isaac de l'Étoile  ·  Année 2026 /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CARACTÉRISTIQUES D'UN SIGNAL PÉRIODIQUE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Période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82296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phénomène périodique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reproduit identique à lui-même à intervalles de temps égaux.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57607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48840"/>
            <a:ext cx="64008" cy="109728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22402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40664" y="253288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période T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plus petite durée au bout de laquelle le signal se reproduit identique à lui-même. C'est la durée d'un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élémentaire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57607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37560"/>
            <a:ext cx="64008" cy="3063240"/>
          </a:xfrm>
          <a:prstGeom prst="rect">
            <a:avLst/>
          </a:prstGeom>
          <a:solidFill>
            <a:srgbClr val="B28A1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" y="3447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MÉTHODE — MESURER UNE PÉRIODE SUR UN GRAPHE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342900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77240" y="3813048"/>
            <a:ext cx="237744" cy="237744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794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un motif élémentaire qui se répète.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215384"/>
            <a:ext cx="237744" cy="237744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215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4197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compter n consécutifs, le plus possible.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617720"/>
            <a:ext cx="237744" cy="237744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4617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4599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instants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ct val="108000"/>
              </a:lnSpc>
              <a:buNone/>
            </a:pPr>
            <a:r>
              <a:rPr lang="en-US" sz="1050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(départ) et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ct val="108000"/>
              </a:lnSpc>
              <a:buNone/>
            </a:pPr>
            <a:r>
              <a:rPr lang="en-US" sz="1050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(arrivée).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5020056"/>
            <a:ext cx="237744" cy="237744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020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" y="50017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déduire la période :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046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700784" y="5437251"/>
            <a:ext cx="100584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13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ctr" indent="0" marL="0">
              <a:buNone/>
            </a:pPr>
            <a:r>
              <a:rPr lang="en-US" sz="13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737360" y="5687568"/>
            <a:ext cx="932688" cy="0"/>
          </a:xfrm>
          <a:prstGeom prst="line">
            <a:avLst/>
          </a:prstGeom>
          <a:noFill/>
          <a:ln w="22225">
            <a:solidFill>
              <a:srgbClr val="141A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700784" y="5715000"/>
            <a:ext cx="100584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989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i="1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plusieurs motifs ?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lecture des instants est imprécise ; sur n motifs, on divise cette imprécision par n.</a:t>
            </a:r>
            <a:endParaRPr lang="en-US" sz="850" dirty="0"/>
          </a:p>
        </p:txBody>
      </p:sp>
      <p:pic>
        <p:nvPicPr>
          <p:cNvPr id="43" name="Image 0" descr="img/site-mtit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794760"/>
            <a:ext cx="2468880" cy="1252728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365760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étapes, sur un signal dont le motif est un peu découpé.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20256" y="1225296"/>
            <a:ext cx="2395728" cy="1362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46" name="Image 1" descr="img/t3c1-sismogramme-sour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2286000" cy="1252728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6675120" y="2624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sismogramme n'est pas périodique.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09176" y="1225296"/>
            <a:ext cx="2304288" cy="12710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49" name="Image 2" descr="img/t3c1-ecg-sour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280160"/>
            <a:ext cx="2194560" cy="1161288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9464040" y="2532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2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ECG, un motif se répète : le signal est périodique.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6675120" y="3063240"/>
            <a:ext cx="4983480" cy="3337560"/>
          </a:xfrm>
          <a:prstGeom prst="roundRect">
            <a:avLst>
              <a:gd name="adj" fmla="val 1370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52" name="Text 47"/>
          <p:cNvSpPr txBox="1"/>
          <p:nvPr/>
        </p:nvSpPr>
        <p:spPr>
          <a:xfrm>
            <a:off x="6894576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1</a:t>
            </a:r>
            <a:endParaRPr lang="en-US" sz="850" dirty="0"/>
          </a:p>
        </p:txBody>
      </p:sp>
      <p:sp>
        <p:nvSpPr>
          <p:cNvPr id="53" name="Text 48"/>
          <p:cNvSpPr txBox="1"/>
          <p:nvPr/>
        </p:nvSpPr>
        <p:spPr>
          <a:xfrm>
            <a:off x="6894576" y="3410712"/>
            <a:ext cx="4544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observe à l'oscilloscope le signal délivré par un microphone. Calculer la période T de ce signal.</a:t>
            </a:r>
            <a:endParaRPr lang="en-US" sz="1150" dirty="0"/>
          </a:p>
        </p:txBody>
      </p:sp>
      <p:pic>
        <p:nvPicPr>
          <p:cNvPr id="54" name="Image 3" descr="img/site-t3c1ex1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3950208"/>
            <a:ext cx="4206240" cy="216712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56" name="Text 50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51" grpId="0"/>
      <p:bldP spid="52" grpId="0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CARACTÉRISTIQUES D'UN SIGNAL PÉRIODIQUE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Fréquence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760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14300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fréquence f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le nombre de motifs élémentaires (périodes) par unité de temps, le plus souvent par seconde. Son unité est le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hertz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 symbole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5760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0320">
            <a:solidFill>
              <a:srgbClr val="1D9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65176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99466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682496" y="2897505"/>
            <a:ext cx="68580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719072" y="3250692"/>
            <a:ext cx="612648" cy="0"/>
          </a:xfrm>
          <a:prstGeom prst="line">
            <a:avLst/>
          </a:prstGeom>
          <a:noFill/>
          <a:ln w="22225">
            <a:solidFill>
              <a:srgbClr val="141A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2496" y="3278124"/>
            <a:ext cx="68580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734056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GRANDEURS &amp; UNITÉS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734056" y="3163824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fréquence · Hz
</a:t>
            </a:r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période · 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5760720" cy="2423160"/>
          </a:xfrm>
          <a:prstGeom prst="roundRect">
            <a:avLst>
              <a:gd name="adj" fmla="val 1887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22376" y="4078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4325112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fréquence de ce signal.</a:t>
            </a:r>
            <a:endParaRPr lang="en-US" sz="1200" dirty="0"/>
          </a:p>
        </p:txBody>
      </p:sp>
      <p:pic>
        <p:nvPicPr>
          <p:cNvPr id="26" name="Image 0" descr="img/site-t3c1ex2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4654296"/>
            <a:ext cx="2743200" cy="1627632"/>
          </a:xfrm>
          <a:prstGeom prst="rect">
            <a:avLst/>
          </a:prstGeom>
        </p:spPr>
      </p:pic>
      <p:pic>
        <p:nvPicPr>
          <p:cNvPr id="27" name="Image 1" descr="img/site-t3c1f3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983480" cy="21031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675120" y="3474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3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la fréquence sur l'allure du signal, les deux tracés dans le même repère : à 3 Hz, trois motifs par seconde contre un seul à 1 Hz — et des amplitudes identiques.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6675120" y="42062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l'oreille  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plus la fréquence est élevée, plus le son est aigu ; plus elle est basse, plus il est grave.</a:t>
            </a:r>
            <a:endParaRPr lang="en-US" sz="1200" dirty="0"/>
          </a:p>
        </p:txBody>
      </p:sp>
      <p:pic>
        <p:nvPicPr>
          <p:cNvPr id="30" name="Image 2" descr="img/t3c1-portrait-hertz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029200"/>
            <a:ext cx="1005840" cy="124358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818120" y="5074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Heinrich Hertz (1857–1894)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croyait inutile. Une génération plus tard, son nom devient l'unité de fréquence.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0" grpId="0"/>
      <p:bldP spid="31" grpId="0"/>
      <p:bldP spid="23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CARACTÉRISTIQUES D'UN SIGNAL PÉRIODIQUE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Extrema et amplitude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7607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28016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 — EXTREMA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périodique possède des extrema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valeur maximale et une valeur minimale. Pour une tension u(t), on parle de tension maximale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lnSpc>
                <a:spcPct val="114000"/>
              </a:lnSpc>
              <a:buNone/>
            </a:pPr>
            <a:r>
              <a:rPr lang="en-US" sz="1250" b="1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 tension minimale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lnSpc>
                <a:spcPct val="114000"/>
              </a:lnSpc>
              <a:buNone/>
            </a:pPr>
            <a:r>
              <a:rPr lang="en-US" sz="1250" b="1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5760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0320">
            <a:solidFill>
              <a:srgbClr val="D640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78892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17754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3148965"/>
            <a:ext cx="1691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ctr" indent="0" marL="0">
              <a:buNone/>
            </a:pPr>
            <a:r>
              <a:rPr lang="en-US" sz="15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ctr" indent="0" marL="0">
              <a:buNone/>
            </a:pPr>
            <a:r>
              <a:rPr lang="en-US" sz="15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27632" y="3433572"/>
            <a:ext cx="1618488" cy="0"/>
          </a:xfrm>
          <a:prstGeom prst="line">
            <a:avLst/>
          </a:prstGeom>
          <a:noFill/>
          <a:ln w="22225">
            <a:solidFill>
              <a:srgbClr val="141A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91056" y="3461004"/>
            <a:ext cx="1691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48456" y="3063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GRANDEURS &amp; UNITÉS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648456" y="3300984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amplitude · V
</a:t>
            </a:r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lnSpc>
                <a:spcPct val="116000"/>
              </a:lnSpc>
              <a:buNone/>
            </a:pPr>
            <a:r>
              <a:rPr lang="en-US" sz="1050" b="1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lnSpc>
                <a:spcPct val="116000"/>
              </a:lnSpc>
              <a:buNone/>
            </a:pPr>
            <a:r>
              <a:rPr lang="en-US" sz="1050" b="1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tensions · V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L'amplitude n'est pas l'écart entre le maximum et le minimum : c'est sa 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moitié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hauteur qui sépare le sommet de la courbe de sa position moyenne.</a:t>
            </a:r>
            <a:endParaRPr lang="en-US" sz="1200" dirty="0"/>
          </a:p>
        </p:txBody>
      </p:sp>
      <p:pic>
        <p:nvPicPr>
          <p:cNvPr id="24" name="Image 0" descr="img/site-t3c1f4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80160"/>
            <a:ext cx="4983480" cy="17830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675120" y="3154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4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 d'une tension périodique u(t) : les deux valeurs extrêmes atteintes par la tension.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675120" y="3703320"/>
            <a:ext cx="4983480" cy="2697480"/>
          </a:xfrm>
          <a:prstGeom prst="roundRect">
            <a:avLst>
              <a:gd name="adj" fmla="val 1695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894576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3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894576" y="4050792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la période, la fréquence et les extrema du signal ci-dessous.</a:t>
            </a:r>
            <a:endParaRPr lang="en-US" sz="1150" dirty="0"/>
          </a:p>
        </p:txBody>
      </p:sp>
      <p:pic>
        <p:nvPicPr>
          <p:cNvPr id="29" name="Image 1" descr="img/site-t3c1ex3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379976"/>
            <a:ext cx="4160520" cy="194767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ONDES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d'une perturbation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86868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onde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propagation d'une perturbation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déplacement de matière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548640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40280"/>
            <a:ext cx="64008" cy="1783080"/>
          </a:xfrm>
          <a:prstGeom prst="rect">
            <a:avLst/>
          </a:prstGeom>
          <a:solidFill>
            <a:srgbClr val="4A3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" y="2350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PROPRIÉTÉ — DEUX FAMILLES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233172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062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40664" y="26243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ondes mécaniques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propagent dans un milieu matériel, sans transport de matière mais avec transport d'énergie.
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ondes électromagnétiques (OEM)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peuvent se déplacer dans le vide. Elles transportent de l'énergie et de l'information.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" y="4105656"/>
            <a:ext cx="1984248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21" name="Image 0" descr="img/t3c1-vague-bateau-sour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60520"/>
            <a:ext cx="1874520" cy="1508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02920" y="57607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5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vague avance, le bateau monte et redescend sur place.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2606040" y="4251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voyage, c'est la perturbation — pas l'eau.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bateau se retrouve exactement où il était. Ce que l'onde transporte, c'est de l'énergie.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1234440"/>
            <a:ext cx="5257800" cy="5074920"/>
          </a:xfrm>
          <a:prstGeom prst="roundRect">
            <a:avLst>
              <a:gd name="adj" fmla="val 901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6620256" y="1335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4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620256" y="158191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mécanique ou électromagnétique 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20256" y="2057400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28" name="Image 1" descr="img/t3c1-ex4-bloc-sismiq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3408" y="2130552"/>
            <a:ext cx="1362456" cy="99669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620256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Ondes sismiques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311896" y="2057400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31" name="Image 2" descr="img/t3c1-ex4-antenne-radi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5048" y="2130552"/>
            <a:ext cx="1362456" cy="99669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311896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Ondes radio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0003536" y="2057400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34" name="Image 3" descr="img/t3c1-ex4-haut-parleu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76688" y="2130552"/>
            <a:ext cx="1362456" cy="99669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003536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sonore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620256" y="3858768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37" name="Image 4" descr="img/t3c1-ex4-vagu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93408" y="3931920"/>
            <a:ext cx="1362456" cy="99669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620256" y="5047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311896" y="3858768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40" name="Image 5" descr="img/t3c1-ex4-soleil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85048" y="3931920"/>
            <a:ext cx="1362456" cy="99669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311896" y="5047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 du Soleil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43" name="Text 35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ÉMISSION ET PROPAGATION D'UN SIGNAL SONORE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Émission   ·   B · Propagation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9436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18872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 — ÉMISSION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émetteur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source sonore) produit un signal sonore grâce à une de ses parties qui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vibre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Une vibration est un mouvement de va-et-vient.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603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B28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Remarque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être plus audible, le son émis doit être amplifié par une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de résonance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9436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143000"/>
          </a:xfrm>
          <a:prstGeom prst="rect">
            <a:avLst/>
          </a:prstGeom>
          <a:solidFill>
            <a:srgbClr val="4A3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" y="3310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PROPRIÉTÉ — PROPAGATION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40664" y="35844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onde sonore se propage dans un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matériel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(solide, liquide ou gazeux) mais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se propager dans le vide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pic>
        <p:nvPicPr>
          <p:cNvPr id="21" name="Image 0" descr="img/site-anon8.png">
            <a:hlinkClick r:id="rId2" tooltip="Voir l'expérience de la cloche à v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26280"/>
            <a:ext cx="2377440" cy="133502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02920" y="4526280"/>
            <a:ext cx="2377440" cy="1335024"/>
          </a:xfrm>
          <a:prstGeom prst="roundRect">
            <a:avLst>
              <a:gd name="adj" fmla="val 3425"/>
            </a:avLst>
          </a:prstGeom>
          <a:ln w="17780">
            <a:solidFill>
              <a:srgbClr val="D640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6324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Voir l'expérience de la cloche à vi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Voir l'expérience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4892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à vide.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retire l'air : la sonnerie se tait, alors qu'on la voit toujours vibrer.</a:t>
            </a:r>
            <a:endParaRPr lang="en-US" sz="1100" dirty="0"/>
          </a:p>
        </p:txBody>
      </p:sp>
      <p:pic>
        <p:nvPicPr>
          <p:cNvPr id="25" name="Image 1" descr="img/t3c1-guit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80160"/>
            <a:ext cx="1691640" cy="20665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343814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6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cordes vibrent ; la caisse amplifie le son.</a:t>
            </a:r>
            <a:endParaRPr lang="en-US" sz="900" dirty="0"/>
          </a:p>
        </p:txBody>
      </p:sp>
      <p:pic>
        <p:nvPicPr>
          <p:cNvPr id="27" name="Image 2" descr="img/t3c1-saxo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280160"/>
            <a:ext cx="1234440" cy="20574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281160" y="3429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7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saxophone, c'est l'anche qui vibre.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803136" y="4151376"/>
            <a:ext cx="1801368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30" name="Image 3" descr="img/t3c1-compressions-dilatations-sourc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06240"/>
            <a:ext cx="1691640" cy="147218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858000" y="57698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8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compressions et dilatations successives : des variations de pression.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1" grpId="0"/>
      <p:bldP spid="22" grpId="0"/>
      <p:bldP spid="23" grpId="0"/>
      <p:bldP spid="24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ÉMISSION ET PROPAGATION D'UN SIGNAL SONORE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Vitesse du signal sonore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035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05156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vitesse de propagation du son, appelée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célérité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dépend du milieu traversé : elle est plus élevée dans les liquides et les métaux que dans l'air.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6035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0320">
            <a:solidFill>
              <a:srgbClr val="D640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51460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6151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900" b="1" baseline="-40000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</a:t>
            </a:r>
            <a:pPr indent="0" marL="0">
              <a:buNone/>
            </a:pPr>
            <a:r>
              <a:rPr lang="en-US" sz="1900" b="1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(air) = 340 m·s</a:t>
            </a:r>
            <a:pPr indent="0" marL="0">
              <a:buNone/>
            </a:pPr>
            <a:r>
              <a:rPr lang="en-US" sz="1900" b="1" baseline="30000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pPr indent="0" marL="0">
              <a:buNone/>
            </a:pPr>
            <a:r>
              <a:rPr lang="en-US" sz="1050" dirty="0">
                <a:solidFill>
                  <a:srgbClr val="6B6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à connaître par cœur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60350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0320">
            <a:solidFill>
              <a:srgbClr val="1D9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52044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88620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r" indent="0" marL="0">
              <a:buNone/>
            </a:pPr>
            <a:r>
              <a:rPr lang="en-US" sz="1900" b="1" baseline="-40000" dirty="0">
                <a:solidFill>
                  <a:srgbClr val="1D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</a:t>
            </a:r>
            <a:pPr algn="r" indent="0" marL="0">
              <a:buNone/>
            </a:pPr>
            <a:r>
              <a:rPr lang="en-US" sz="1900" b="1" dirty="0">
                <a:solidFill>
                  <a:srgbClr val="1D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2139696" y="3789045"/>
            <a:ext cx="73152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2176272" y="4142232"/>
            <a:ext cx="658368" cy="0"/>
          </a:xfrm>
          <a:prstGeom prst="line">
            <a:avLst/>
          </a:prstGeom>
          <a:noFill/>
          <a:ln w="22225">
            <a:solidFill>
              <a:srgbClr val="141A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39696" y="4169664"/>
            <a:ext cx="73152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3236976" y="3794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GRANDEURS &amp; UNITÉS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3236976" y="4032504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ct val="116000"/>
              </a:lnSpc>
              <a:buNone/>
            </a:pPr>
            <a:r>
              <a:rPr lang="en-US" sz="1050" b="1" baseline="-400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célérité · m·s⁻¹
</a:t>
            </a:r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distance parcourue · m
</a:t>
            </a:r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durée du parcours · 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864608"/>
            <a:ext cx="6035040" cy="749808"/>
          </a:xfrm>
          <a:prstGeom prst="roundRect">
            <a:avLst>
              <a:gd name="adj" fmla="val 6098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22376" y="4965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5</a:t>
            </a:r>
            <a:endParaRPr lang="en-US" sz="850" dirty="0"/>
          </a:p>
        </p:txBody>
      </p:sp>
      <p:pic>
        <p:nvPicPr>
          <p:cNvPr id="30" name="Image 0" descr="img/t3c1-icone-o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5166360"/>
            <a:ext cx="457200" cy="4572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271016" y="5212080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son d'un éclair met 9 secondes à nous parvenir. À quelle distance se trouve l'orage 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5687568"/>
            <a:ext cx="6035040" cy="749808"/>
          </a:xfrm>
          <a:prstGeom prst="roundRect">
            <a:avLst>
              <a:gd name="adj" fmla="val 6098"/>
            </a:avLst>
          </a:prstGeom>
          <a:solidFill>
            <a:srgbClr val="F4F1E8"/>
          </a:solidFill>
          <a:ln w="12700">
            <a:solidFill>
              <a:srgbClr val="4A3F9E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722376" y="5788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A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6</a:t>
            </a:r>
            <a:endParaRPr lang="en-US" sz="850" dirty="0"/>
          </a:p>
        </p:txBody>
      </p:sp>
      <p:pic>
        <p:nvPicPr>
          <p:cNvPr id="34" name="Image 1" descr="img/t3c1-icone-bale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149340"/>
            <a:ext cx="566928" cy="13716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380744" y="6035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chant d'une baleine bleue a été entendu à 1000 km. Combien de temps met-il pour parcourir cette distance ?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7315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QUELQUES CÉLÉRITÉS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7315200" y="1664208"/>
            <a:ext cx="4343400" cy="384048"/>
          </a:xfrm>
          <a:prstGeom prst="rect">
            <a:avLst/>
          </a:prstGeom>
          <a:solidFill>
            <a:srgbClr val="141A26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49808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9601200" y="1664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D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Célérité (m·s</a:t>
            </a:r>
            <a:pPr algn="r" indent="0" marL="0">
              <a:buNone/>
            </a:pPr>
            <a:r>
              <a:rPr lang="en-US" sz="1150" b="1" baseline="30000" dirty="0">
                <a:solidFill>
                  <a:srgbClr val="FD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pPr algn="r" indent="0" marL="0">
              <a:buNone/>
            </a:pPr>
            <a:r>
              <a:rPr lang="en-US" sz="1150" b="1" dirty="0">
                <a:solidFill>
                  <a:srgbClr val="FD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7315200" y="2048256"/>
            <a:ext cx="4343400" cy="457200"/>
          </a:xfrm>
          <a:prstGeom prst="rect">
            <a:avLst/>
          </a:prstGeom>
          <a:solidFill>
            <a:srgbClr val="F4F1E8"/>
          </a:solidFill>
          <a:ln w="9525">
            <a:solidFill>
              <a:srgbClr val="E8E4D8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498080" y="2048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250" dirty="0"/>
          </a:p>
        </p:txBody>
      </p:sp>
      <p:sp>
        <p:nvSpPr>
          <p:cNvPr id="42" name="Text 38"/>
          <p:cNvSpPr txBox="1"/>
          <p:nvPr/>
        </p:nvSpPr>
        <p:spPr>
          <a:xfrm>
            <a:off x="9601200" y="2048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7315200" y="2505456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498080" y="25054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</a:t>
            </a:r>
            <a:endParaRPr lang="en-US" sz="1250" dirty="0"/>
          </a:p>
        </p:txBody>
      </p:sp>
      <p:sp>
        <p:nvSpPr>
          <p:cNvPr id="45" name="Text 41"/>
          <p:cNvSpPr txBox="1"/>
          <p:nvPr/>
        </p:nvSpPr>
        <p:spPr>
          <a:xfrm>
            <a:off x="9601200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7315200" y="2962656"/>
            <a:ext cx="4343400" cy="457200"/>
          </a:xfrm>
          <a:prstGeom prst="rect">
            <a:avLst/>
          </a:prstGeom>
          <a:solidFill>
            <a:srgbClr val="F4F1E8"/>
          </a:solidFill>
          <a:ln w="9525">
            <a:solidFill>
              <a:srgbClr val="E8E4D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98080" y="29626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</a:t>
            </a:r>
            <a:endParaRPr lang="en-US" sz="1250" dirty="0"/>
          </a:p>
        </p:txBody>
      </p:sp>
      <p:sp>
        <p:nvSpPr>
          <p:cNvPr id="48" name="Text 44"/>
          <p:cNvSpPr txBox="1"/>
          <p:nvPr/>
        </p:nvSpPr>
        <p:spPr>
          <a:xfrm>
            <a:off x="9601200" y="29626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3 300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7315200" y="3419856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498080" y="3419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</a:t>
            </a:r>
            <a:endParaRPr lang="en-US" sz="1250" dirty="0"/>
          </a:p>
        </p:txBody>
      </p:sp>
      <p:sp>
        <p:nvSpPr>
          <p:cNvPr id="51" name="Text 47"/>
          <p:cNvSpPr txBox="1"/>
          <p:nvPr/>
        </p:nvSpPr>
        <p:spPr>
          <a:xfrm>
            <a:off x="960120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</a:t>
            </a:r>
            <a:endParaRPr lang="en-US" sz="1400" dirty="0"/>
          </a:p>
        </p:txBody>
      </p:sp>
      <p:sp>
        <p:nvSpPr>
          <p:cNvPr id="52" name="Text 48"/>
          <p:cNvSpPr txBox="1"/>
          <p:nvPr/>
        </p:nvSpPr>
        <p:spPr>
          <a:xfrm>
            <a:off x="7315200" y="39502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Tableau saisi de mémoire — à recaler sur la source du cours.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7315200" y="44348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milieu est dense, plus le son va vite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molécules serrées se transmettent l'information plus rapidement.</a:t>
            </a:r>
            <a:endParaRPr lang="en-US" sz="1150" dirty="0"/>
          </a:p>
        </p:txBody>
      </p:sp>
      <p:sp>
        <p:nvSpPr>
          <p:cNvPr id="54" name="Text 50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55" name="Text 51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DES SONS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Fréquences audibles, infrasons et ultrasons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858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28016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778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L'oreille humaine est sensible aux ondes sonores de fréquence comprise entre environ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Hz et 20 kHz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Ce domaine, celui des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 audibles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est situé entre celui des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infrasons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dessous) et celui des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ultrasons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(au-dessus).</a:t>
            </a:r>
            <a:endParaRPr lang="en-US" sz="1250" dirty="0"/>
          </a:p>
        </p:txBody>
      </p:sp>
      <p:pic>
        <p:nvPicPr>
          <p:cNvPr id="13" name="Image 0" descr="img/site-t3c1f9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80360"/>
            <a:ext cx="6858000" cy="2450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2920" y="54223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9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domaine des fréquences audibles, entre 20 Hz et 20 kHz, encadré par les infrasons et les ultrasons ; il se partage lui-même en graves, mediums et aigus.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897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valeurs varient d'un individu à l'autre.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domaine audible se réduit avec l'âge, surtout dans les aigus.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17536" y="1225296"/>
            <a:ext cx="39959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17" name="Image 1" descr="img/t3c1-acuite-age-sour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3886200" cy="22860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772400" y="3657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11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altération de l'acuité auditive avec l'âge : à 80 ans, la perte atteint près de 70 dB vers 8 000 Hz.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717536" y="4197096"/>
            <a:ext cx="399592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20" name="Image 2" descr="img/t3c1-champ-auditif-especes-sour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251960"/>
            <a:ext cx="3886200" cy="1325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0" y="5669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10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d'autres espèces entendent ce que nous ne percevons pas : l'éléphant descend dans les infrasons, le dauphin atteint 160 000 Hz.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DES SONS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Hauteur et timbre d'un 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6692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178308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441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18488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son perçu est associé à deux caractéristiques physiologiques :
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qui correspond à sa fréquence, dite fréquence fondamentale ;
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timbre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qui correspond à la présence d'autres fréquences, dites harmoniques — on parle alors de son complexe.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6692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00400"/>
            <a:ext cx="64008" cy="1188720"/>
          </a:xfrm>
          <a:prstGeom prst="rect">
            <a:avLst/>
          </a:prstGeom>
          <a:solidFill>
            <a:srgbClr val="D640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" y="3310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— À NE PAS CONFONDRE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" y="358444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(grave ou aigu) tient à la 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L'intensité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(fort ou faible) tient à l'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Deux caractéristiques indépendantes.</a:t>
            </a:r>
            <a:endParaRPr lang="en-US" sz="1200" dirty="0"/>
          </a:p>
        </p:txBody>
      </p:sp>
      <p:pic>
        <p:nvPicPr>
          <p:cNvPr id="17" name="Image 0" descr="img/site-t3c1f13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17720"/>
            <a:ext cx="3931920" cy="121615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02920" y="5925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13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diapason produit un son pur : une sinusoïde, sans aucune harmonique.</a:t>
            </a:r>
            <a:endParaRPr lang="en-US" sz="900" dirty="0"/>
          </a:p>
        </p:txBody>
      </p:sp>
      <p:pic>
        <p:nvPicPr>
          <p:cNvPr id="19" name="Image 1" descr="img/t3c1-la-par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617720"/>
            <a:ext cx="1371600" cy="960120"/>
          </a:xfrm>
          <a:prstGeom prst="rect">
            <a:avLst/>
          </a:prstGeom>
        </p:spPr>
      </p:pic>
      <p:pic>
        <p:nvPicPr>
          <p:cNvPr id="20" name="Image 2" descr="img/site-t3c1f12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80160"/>
            <a:ext cx="5120640" cy="27249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37960" y="40965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12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note, un La₃, jouée par deux instruments : mêmes périodes donc même fréquence fondamentale (440 Hz), mais des harmoniques différentes — donc des timbres différents.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même note jouée par deux instruments différents a la même hauteur, mais un timbre différent.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permet de reconnaître l'instrument.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7" grpId="0"/>
      <p:bldP spid="18" grpId="0"/>
      <p:bldP spid="19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DES SONS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Niveau d'intensité sonore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son est d'autant plus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la source vibre avec une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amplitude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Mais un son deux fois plus intense n'est pas perçu deux fois plus fort : l'oreille ne réagit pas proportionnellement à l'intensité.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86000"/>
            <a:ext cx="64008" cy="1508760"/>
          </a:xfrm>
          <a:prstGeom prst="rect">
            <a:avLst/>
          </a:prstGeom>
          <a:solidFill>
            <a:srgbClr val="1D9A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" y="267004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D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d'intensité sonore L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s'exprime en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décibel (dB)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Il n'est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proportionnel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l'intensité I : quand I est multipliée par 10, le niveau </a:t>
            </a:r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 de 10 dB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 niveau 0 dB est celui en dessous duquel une oreille moyenne ne détecte plus le son.</a:t>
            </a:r>
            <a:endParaRPr lang="en-US" sz="1250" dirty="0"/>
          </a:p>
        </p:txBody>
      </p:sp>
      <p:pic>
        <p:nvPicPr>
          <p:cNvPr id="14" name="Image 0" descr="img/site-t3c1f14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0"/>
            <a:ext cx="5394960" cy="19293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02920" y="60441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15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l'amplitude A sépare le sommet de la position moyenne ; l'écart crête à crête, en pointillé, en vaut le double.</a:t>
            </a:r>
            <a:endParaRPr lang="en-US" sz="900" dirty="0"/>
          </a:p>
        </p:txBody>
      </p:sp>
      <p:pic>
        <p:nvPicPr>
          <p:cNvPr id="16" name="Image 1" descr="img/site-t3c1f15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80160"/>
            <a:ext cx="1920240" cy="34564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52360" y="4828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16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des niveaux d'intensité sonore.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912096" y="1225296"/>
            <a:ext cx="1709928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19" name="Image 2" descr="img/t3c1-sonomet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280160"/>
            <a:ext cx="1600200" cy="18379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966960" y="32095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17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se mesure au sonomètre.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141A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DES SONS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03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(suite) · Danger de l'exposition sonore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6583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64008" cy="1463040"/>
          </a:xfrm>
          <a:prstGeom prst="rect">
            <a:avLst/>
          </a:prstGeom>
          <a:solidFill>
            <a:srgbClr val="D640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0664" y="13898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PROPRIÉTÉ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10896" cy="310896"/>
          </a:xfrm>
          <a:prstGeom prst="ellipse">
            <a:avLst/>
          </a:prstGeom>
          <a:solidFill>
            <a:srgbClr val="B2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28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FICHE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1664208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onde sonore représente un </a:t>
            </a:r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D6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pour l'oreille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son niveau d'intensité sonore est trop élevé. Au-delà d'un certain niveau, la vibration peut endommager l'oreille </a:t>
            </a:r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irrémédiablement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0320">
            <a:solidFill>
              <a:srgbClr val="1D9A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dB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d'audibilité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050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perception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0175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0320">
            <a:solidFill>
              <a:srgbClr val="B28A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31546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28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dB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danger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050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prolongée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30175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0320">
            <a:solidFill>
              <a:srgbClr val="D640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31546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6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dB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douleur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4050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atteinte immédiate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937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environnement bruyant,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des protections auditives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casque anti-bruit ou bouchons d'oreilles.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0376" y="1362456"/>
            <a:ext cx="413308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</p:sp>
      <p:pic>
        <p:nvPicPr>
          <p:cNvPr id="27" name="Image 0" descr="img/t3c1-casque-anti-bru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17320"/>
            <a:ext cx="4023360" cy="341071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635240" y="4919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18 —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casque anti-bruit : la protection la plus simple contre une exposition prolongée.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Chapitre 1 — Émission et perception d'un son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127455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1D9AA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26"/>
                </a:solidFill>
              </a:rPr>
              <a:t>✓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DF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le DS, je sais :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9154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EXERCICES MANUEL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91056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47218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 principe de l'émission d'un signal sonore par la mise en vibration d'un objet et l'intérêt de la caisse de résonance.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4721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966960" y="14721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20824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94560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0756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rôle du milieu matériel dans la propagation d'un signal sonore.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0756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p. 265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624328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98064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679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Citer une valeur approchée de la vitesse du son dans l'air et la comparer à d'autres vitesses.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26791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2679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p. 262 · 17 p. 263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227832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01568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2826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et déterminer la période et la fréquence d'un signal sonore à partir de sa représentation temporelle.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282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3 ·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3282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p. 262 · 22 p. 266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831336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05072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Citer les domaines de fréquences des sons audibles, des infrasons et des ultrasons.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p. 262 · 23 p. 266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434840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608576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4897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qualitativement la fréquence à la hauteur d'un son audible.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4897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66960" y="4489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5038344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212080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5093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qualitativement intensité sonore et niveau d'intensité sonore.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915400" y="50932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5093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p. 266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641848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815584"/>
            <a:ext cx="237744" cy="237744"/>
          </a:xfrm>
          <a:prstGeom prst="rect">
            <a:avLst/>
          </a:prstGeom>
          <a:solidFill>
            <a:srgbClr val="1E2536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0120" y="56967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une échelle de niveau d'intensité sonore et citer les dangers de l'exposition sonore.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915400" y="56967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966960" y="5696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p. 263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6263640"/>
            <a:ext cx="11201400" cy="0"/>
          </a:xfrm>
          <a:prstGeom prst="line">
            <a:avLst/>
          </a:prstGeom>
          <a:noFill/>
          <a:ln w="12700">
            <a:solidFill>
              <a:srgbClr val="2C334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" y="63825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complet, les corrections et les Kahoot sont en ligne.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Thème 3 · Chapitre 1 — Émission et perception d'un son</dc:title>
  <dc:subject>PptxGenJS Presentation</dc:subject>
  <dc:creator>M. Van Hoorde</dc:creator>
  <cp:lastModifiedBy>M. Van Hoorde</cp:lastModifiedBy>
  <cp:revision>1</cp:revision>
  <dcterms:created xsi:type="dcterms:W3CDTF">2026-08-29T09:58:37Z</dcterms:created>
  <dcterms:modified xsi:type="dcterms:W3CDTF">2026-08-29T09:58:37Z</dcterms:modified>
</cp:coreProperties>
</file>