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reate.kahoot.it/share/bilan-transformations-physiques/cddd4fff-a579-4bdd-9809-eeef7b109e1a" TargetMode="External"/><Relationship Id="rId3" Type="http://schemas.openxmlformats.org/officeDocument/2006/relationships/hyperlink" Target="https://create.kahoot.it/share/bilan-transformations-chimiques/3cb2cd2a-b987-4484-83d7-c86ea6a5940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4000" y="1944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9AAA"/>
                </a:solidFill>
                <a:latin typeface="Courier New"/>
              </a:rPr>
              <a:t>THÈME 1 · CONSTITUTION ET TRANSFORMATIONS DE LA MATIÈRE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2232000"/>
            <a:ext cx="972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DFCF8"/>
                </a:solidFill>
                <a:latin typeface="Cambria"/>
              </a:rPr>
              <a:t>Chapitre 2 — Transformations physiques et chimiques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3636000"/>
            <a:ext cx="1008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9AA2B2"/>
                </a:solidFill>
                <a:latin typeface="Calibri"/>
              </a:rPr>
              <a:t>Un glaçon fond, une bougie brûle : dans un seul des deux cas les molécules elles-mêmes changent.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000" y="4140000"/>
            <a:ext cx="2160000" cy="216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4356000"/>
            <a:ext cx="936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2B2"/>
                </a:solidFill>
                <a:latin typeface="Courier New"/>
              </a:rPr>
              <a:t>M. VAN HOORDE · LYCÉE ISAAC DE L'ÉTOILE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2B2"/>
                </a:solidFill>
                <a:latin typeface="Courier New"/>
              </a:rPr>
              <a:t>Seconde générale · année 2026 /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8000" y="720000"/>
            <a:ext cx="2052000" cy="118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logo-isaac-lyc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00" y="846000"/>
            <a:ext cx="1620000" cy="91153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64000" y="5616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8000" y="5670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28A1D"/>
                </a:solidFill>
                <a:latin typeface="Courier New"/>
              </a:rPr>
              <a:t>ce picto marque ce qui est à écrire sur ta fiche de cours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4000" y="1080000"/>
            <a:ext cx="432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0" b="1" i="0">
                <a:solidFill>
                  <a:srgbClr val="3A445C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2700000"/>
            <a:ext cx="1008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DFCF8"/>
                </a:solidFill>
                <a:latin typeface="Cambria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4000" y="3348000"/>
            <a:ext cx="1800000" cy="216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3636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A — Transformation physique ou chimique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3977999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B — Effet thermique des transformations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A — Transformation physique ou chimique 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936000"/>
            <a:ext cx="5616000" cy="1278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936000"/>
            <a:ext cx="46800" cy="1278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036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TRANSFORMATION PHYSIQUE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278000"/>
            <a:ext cx="5292000" cy="82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Une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transformation physique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une transformation au cours de laquelle la matière change d'apparence, de forme, d'état mais les espèces chimiques (molécules) ne changent pas.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7999" y="1065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5562000" y="1008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999" y="936000"/>
            <a:ext cx="5616000" cy="1278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999" y="936000"/>
            <a:ext cx="46800" cy="1278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999" y="1036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TRANSFORMATION CHIMIQUE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999" y="1278000"/>
            <a:ext cx="5292000" cy="82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Une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transformation chimique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une transformation au cours de laquelle certaines substances disparaissent et d'autres apparaissent. Les espèces chimiques sont modifiées.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7999" y="1065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3" name="Oval 22"/>
          <p:cNvSpPr/>
          <p:nvPr/>
        </p:nvSpPr>
        <p:spPr>
          <a:xfrm>
            <a:off x="11502000" y="1008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" y="2412000"/>
            <a:ext cx="11556000" cy="210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24000" y="2412000"/>
            <a:ext cx="46800" cy="2106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000" y="2512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1 — TRANSFORMATION PHYSIQUE OU CHIMIQUE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000" y="2754000"/>
            <a:ext cx="11232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On considère les neuf situations suivantes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000" y="3062024"/>
            <a:ext cx="3606000" cy="913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D6402B"/>
                </a:solidFill>
                <a:latin typeface="Courier New"/>
              </a:rPr>
              <a:t>a) </a:t>
            </a:r>
            <a:r>
              <a:rPr sz="1400" b="0" i="0">
                <a:solidFill>
                  <a:srgbClr val="141A26"/>
                </a:solidFill>
                <a:latin typeface="Calibri"/>
              </a:rPr>
              <a:t>obtention d'une flamme (briquet)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D6402B"/>
                </a:solidFill>
                <a:latin typeface="Courier New"/>
              </a:rPr>
              <a:t>b) </a:t>
            </a:r>
            <a:r>
              <a:rPr sz="1400" b="0" i="0">
                <a:solidFill>
                  <a:srgbClr val="141A26"/>
                </a:solidFill>
                <a:latin typeface="Calibri"/>
              </a:rPr>
              <a:t>formation de la rosée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D6402B"/>
                </a:solidFill>
                <a:latin typeface="Courier New"/>
              </a:rPr>
              <a:t>c) </a:t>
            </a:r>
            <a:r>
              <a:rPr sz="1400" b="0" i="0">
                <a:solidFill>
                  <a:srgbClr val="141A26"/>
                </a:solidFill>
                <a:latin typeface="Calibri"/>
              </a:rPr>
              <a:t>dissolution de sucre dans du café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2000" y="3062024"/>
            <a:ext cx="3606000" cy="913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D6402B"/>
                </a:solidFill>
                <a:latin typeface="Courier New"/>
              </a:rPr>
              <a:t>d) </a:t>
            </a:r>
            <a:r>
              <a:rPr sz="1400" b="0" i="0">
                <a:solidFill>
                  <a:srgbClr val="141A26"/>
                </a:solidFill>
                <a:latin typeface="Calibri"/>
              </a:rPr>
              <a:t>récolte de sel dans un marais salant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D6402B"/>
                </a:solidFill>
                <a:latin typeface="Courier New"/>
              </a:rPr>
              <a:t>e) </a:t>
            </a:r>
            <a:r>
              <a:rPr sz="1400" b="0" i="0">
                <a:solidFill>
                  <a:srgbClr val="141A26"/>
                </a:solidFill>
                <a:latin typeface="Calibri"/>
              </a:rPr>
              <a:t>infusion de thé dans l'eau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D6402B"/>
                </a:solidFill>
                <a:latin typeface="Courier New"/>
              </a:rPr>
              <a:t>f) </a:t>
            </a:r>
            <a:r>
              <a:rPr sz="1400" b="0" i="0">
                <a:solidFill>
                  <a:srgbClr val="141A26"/>
                </a:solidFill>
                <a:latin typeface="Calibri"/>
              </a:rPr>
              <a:t>formation de vin à partir de jus de raisin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8000" y="3062024"/>
            <a:ext cx="3606000" cy="913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D6402B"/>
                </a:solidFill>
                <a:latin typeface="Courier New"/>
              </a:rPr>
              <a:t>g) </a:t>
            </a:r>
            <a:r>
              <a:rPr sz="1400" b="0" i="0">
                <a:solidFill>
                  <a:srgbClr val="141A26"/>
                </a:solidFill>
                <a:latin typeface="Calibri"/>
              </a:rPr>
              <a:t>détartrage de la bouilloire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D6402B"/>
                </a:solidFill>
                <a:latin typeface="Courier New"/>
              </a:rPr>
              <a:t>h) </a:t>
            </a:r>
            <a:r>
              <a:rPr sz="1400" b="0" i="0">
                <a:solidFill>
                  <a:srgbClr val="141A26"/>
                </a:solidFill>
                <a:latin typeface="Calibri"/>
              </a:rPr>
              <a:t>obtention de neige avec un canon à neige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D6402B"/>
                </a:solidFill>
                <a:latin typeface="Courier New"/>
              </a:rPr>
              <a:t>i) </a:t>
            </a:r>
            <a:r>
              <a:rPr sz="1400" b="0" i="0">
                <a:solidFill>
                  <a:srgbClr val="141A26"/>
                </a:solidFill>
                <a:latin typeface="Calibri"/>
              </a:rPr>
              <a:t>explosions de feux d'artifice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000" y="4065613"/>
            <a:ext cx="11232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Classer chaque situation : s'agit-il d'une transformation physique ou d'une transformation chimique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A — Deux exemples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936000"/>
            <a:ext cx="561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EXEMPLE — TRANSFORMATION PHYSIQUE</a:t>
            </a:r>
          </a:p>
        </p:txBody>
      </p:sp>
      <p:pic>
        <p:nvPicPr>
          <p:cNvPr id="13" name="Picture 12" descr="t1c2-comete-holm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224000"/>
            <a:ext cx="4541537" cy="29519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4000" y="4320000"/>
            <a:ext cx="5616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F7A"/>
                </a:solidFill>
                <a:latin typeface="Courier New"/>
              </a:rPr>
              <a:t>Image 1 — À l'approche du Soleil, les glaces du noyau d'une comète se subliment et forment sa queue. Les molécules ne sont pas modifiées.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999" y="936000"/>
            <a:ext cx="561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EXEMPLE — TRANSFORMATION CHIMIQUE</a:t>
            </a:r>
          </a:p>
        </p:txBody>
      </p:sp>
      <p:pic>
        <p:nvPicPr>
          <p:cNvPr id="16" name="Picture 15" descr="t1c2-feuille-photosynthe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999" y="1224000"/>
            <a:ext cx="3935999" cy="29519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3999" y="4320000"/>
            <a:ext cx="5616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F7A"/>
                </a:solidFill>
                <a:latin typeface="Courier New"/>
              </a:rPr>
              <a:t>Image 2 — Par photosynthèse, la plante fabrique du glucose à partir d'eau et de dioxyde de carbone. Des espèces disparaissent, d'autres apparaissent.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000" y="5580000"/>
            <a:ext cx="561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41A26"/>
                </a:solidFill>
                <a:latin typeface="Cambria"/>
              </a:rPr>
              <a:t>H₂O</a:t>
            </a:r>
            <a:r>
              <a:rPr sz="1900" b="1" i="0" baseline="-25000">
                <a:solidFill>
                  <a:srgbClr val="141A26"/>
                </a:solidFill>
                <a:latin typeface="Cambria"/>
              </a:rPr>
              <a:t>(s)</a:t>
            </a:r>
            <a:r>
              <a:rPr sz="1900" b="1" i="0">
                <a:solidFill>
                  <a:srgbClr val="141A26"/>
                </a:solidFill>
                <a:latin typeface="Cambria"/>
              </a:rPr>
              <a:t>   →   </a:t>
            </a:r>
            <a:r>
              <a:rPr sz="1900" b="1" i="0">
                <a:solidFill>
                  <a:srgbClr val="141A26"/>
                </a:solidFill>
                <a:latin typeface="Cambria"/>
              </a:rPr>
              <a:t>H₂O</a:t>
            </a:r>
            <a:r>
              <a:rPr sz="1900" b="1" i="0" baseline="-25000">
                <a:solidFill>
                  <a:srgbClr val="141A26"/>
                </a:solidFill>
                <a:latin typeface="Cambria"/>
              </a:rPr>
              <a:t>(g)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999" y="5580000"/>
            <a:ext cx="561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41A26"/>
                </a:solidFill>
                <a:latin typeface="Cambria"/>
              </a:rPr>
              <a:t>6 CO₂  +  6 H₂O   →   C₆H₁₂O₆  +  6 O₂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B — Effet thermique des transformations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5</a:t>
            </a:r>
          </a:p>
        </p:txBody>
      </p:sp>
      <p:pic>
        <p:nvPicPr>
          <p:cNvPr id="12" name="Picture 11" descr="site-t1c2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000" y="1080000"/>
            <a:ext cx="4896000" cy="26811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96000" y="3825942"/>
            <a:ext cx="4896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3 — Sens du transfert de chaleur entre le système et le milieu extérieur.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000" y="885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5" name="Oval 14"/>
          <p:cNvSpPr/>
          <p:nvPr/>
        </p:nvSpPr>
        <p:spPr>
          <a:xfrm>
            <a:off x="11304000" y="827999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1080000"/>
            <a:ext cx="6120000" cy="1044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24000" y="1080000"/>
            <a:ext cx="46800" cy="1044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000" y="11808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RÉACTION EXOTHERMIQUE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00" y="1422000"/>
            <a:ext cx="5796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Une transformation qui libère de l'énergie sous forme de chaleur est appelée réaction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exothermique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1209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1" name="Oval 20"/>
          <p:cNvSpPr/>
          <p:nvPr/>
        </p:nvSpPr>
        <p:spPr>
          <a:xfrm>
            <a:off x="6065999" y="1152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000" y="2322000"/>
            <a:ext cx="6120000" cy="1044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24000" y="2322000"/>
            <a:ext cx="46800" cy="1044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000" y="24228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RÉACTION ENDOTHERMIQUE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" y="2664000"/>
            <a:ext cx="5796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Une transformation qui prend de la chaleur au milieu extérieur est appelée réaction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endothermique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245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7" name="Oval 26"/>
          <p:cNvSpPr/>
          <p:nvPr/>
        </p:nvSpPr>
        <p:spPr>
          <a:xfrm>
            <a:off x="6065999" y="239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000" y="4392000"/>
            <a:ext cx="11556000" cy="1731599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24000" y="4392000"/>
            <a:ext cx="46800" cy="1731599"/>
          </a:xfrm>
          <a:prstGeom prst="rect">
            <a:avLst/>
          </a:prstGeom>
          <a:solidFill>
            <a:srgbClr val="4C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000" y="4492799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C8A58"/>
                </a:solidFill>
                <a:latin typeface="Courier New"/>
              </a:rPr>
              <a:t>EXEMPLE DÉTAILLÉ — COMBUSTION D'UNE BOUGIE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000" y="4733999"/>
            <a:ext cx="11232000" cy="1281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Le combustible de la bougie est la paraffine, C₁₈H₃₆O₂, qui brûle dans le dioxygène de l'air ; il se forme du dioxyde de carbone et de l'eau :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141A26"/>
                </a:solidFill>
                <a:latin typeface="Cambria"/>
              </a:rPr>
              <a:t>C₁₈H₃₆O₂ (s)  +  26 O₂ (g)   →   18 CO₂ (g)  +  26 H₂O (l)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Cette réaction produit de la chaleur : c'est une réaction exothermique.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4000" y="1080000"/>
            <a:ext cx="432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0" b="1" i="0">
                <a:solidFill>
                  <a:srgbClr val="3A445C"/>
                </a:solidFill>
                <a:latin typeface="Cambria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2700000"/>
            <a:ext cx="1008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DFCF8"/>
                </a:solidFill>
                <a:latin typeface="Cambria"/>
              </a:rPr>
              <a:t>Transformations physiques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4000" y="3348000"/>
            <a:ext cx="1800000" cy="216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3636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A — États de la matière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3977999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B — Changement d'état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4320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C — Équation d'un changement d'état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4662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D — Énergie de changement d'état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physiques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A — États de la matière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7</a:t>
            </a:r>
          </a:p>
        </p:txBody>
      </p:sp>
      <p:pic>
        <p:nvPicPr>
          <p:cNvPr id="12" name="Picture 11" descr="site-t1c2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972000"/>
            <a:ext cx="6120000" cy="18545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4000" y="2891345"/>
            <a:ext cx="61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4 — Traits pleins : liaisons fortes. Traits pointillés : liaisons faibles. Aucun trait : entités libres, en agitation.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000" y="86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5" name="Oval 14"/>
          <p:cNvSpPr/>
          <p:nvPr/>
        </p:nvSpPr>
        <p:spPr>
          <a:xfrm>
            <a:off x="6696000" y="81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72000" y="972000"/>
            <a:ext cx="4608000" cy="2124000"/>
          </a:xfrm>
          <a:prstGeom prst="rect">
            <a:avLst/>
          </a:prstGeom>
          <a:solidFill>
            <a:srgbClr val="EF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272000" y="972000"/>
            <a:ext cx="46800" cy="2124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33999" y="1072800"/>
            <a:ext cx="424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3F9E"/>
                </a:solidFill>
                <a:latin typeface="Courier New"/>
              </a:rPr>
              <a:t>PROPRIÉTÉ — LES TROIS ÉTATS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3999" y="1314000"/>
            <a:ext cx="4284000" cy="16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4A3F9E"/>
                </a:solidFill>
                <a:latin typeface="Calibri"/>
              </a:rPr>
              <a:t>Gazeux (g)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: entités agitées, espacées, libres, qui s'entrechoquent sans cesse.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4A3F9E"/>
                </a:solidFill>
                <a:latin typeface="Calibri"/>
              </a:rPr>
              <a:t>Liquide (l)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: entités mobiles, proches, peu liées ou par des liaisons faibles.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4A3F9E"/>
                </a:solidFill>
                <a:latin typeface="Calibri"/>
              </a:rPr>
              <a:t>Solide (s)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: entités presque immobiles (elles vibrent), très proches, fortement liées.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7999" y="110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1" name="Oval 20"/>
          <p:cNvSpPr/>
          <p:nvPr/>
        </p:nvSpPr>
        <p:spPr>
          <a:xfrm>
            <a:off x="11502000" y="104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000" y="3294000"/>
            <a:ext cx="11556000" cy="29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24000" y="3294000"/>
            <a:ext cx="46800" cy="297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000" y="3394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2 — ASSOCIER UNE MATIÈRE À SA STRUCTURE MICROSCOPIQUE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" y="3636000"/>
            <a:ext cx="11232000" cy="5404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Trois matières : le diamant, un verre de jus d'orange, l'air. Chacun des trois schémas représente la structure de l'une d'elles, à l'échelle des entités.</a:t>
            </a:r>
          </a:p>
        </p:txBody>
      </p:sp>
      <p:pic>
        <p:nvPicPr>
          <p:cNvPr id="26" name="Picture 25" descr="site-t1c2ex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000" y="4212449"/>
            <a:ext cx="4680000" cy="14181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6000" y="5810631"/>
            <a:ext cx="11232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Associer chaque matière au schéma qui lui correspond, et préciser son état physique.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physiques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B — Changement d'état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8</a:t>
            </a:r>
          </a:p>
        </p:txBody>
      </p:sp>
      <p:pic>
        <p:nvPicPr>
          <p:cNvPr id="12" name="Picture 11" descr="site-t1c2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999" y="972000"/>
            <a:ext cx="4680000" cy="312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83999" y="4156800"/>
            <a:ext cx="468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5 — Les six changements d'état. Cyan : endothermique. Rouge : exothermique.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2000" y="849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5" name="Oval 14"/>
          <p:cNvSpPr/>
          <p:nvPr/>
        </p:nvSpPr>
        <p:spPr>
          <a:xfrm>
            <a:off x="11376000" y="792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1007999"/>
            <a:ext cx="6336000" cy="15084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24000" y="1007999"/>
            <a:ext cx="46800" cy="15084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000" y="1108800"/>
            <a:ext cx="59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CHANGEMENT D'ÉTAT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00" y="1350000"/>
            <a:ext cx="6012000" cy="105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Lors d'un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changement d'état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, les propriétés de la matière changent, l'agitation et l'arrangement spatial des entités sont modifiés. Les liaisons entre les entités s'affaiblissent ou se renforcent, se rompent ou se créent.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8000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1" name="Oval 20"/>
          <p:cNvSpPr/>
          <p:nvPr/>
        </p:nvSpPr>
        <p:spPr>
          <a:xfrm>
            <a:off x="6282000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000" y="2714400"/>
            <a:ext cx="633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D6402B"/>
                </a:solidFill>
                <a:latin typeface="Calibri"/>
              </a:rPr>
              <a:t>Les six changements d'état sont à connaître par cœur.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0" y="3200400"/>
            <a:ext cx="6336000" cy="102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24000" y="3200400"/>
            <a:ext cx="46800" cy="1026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3301200"/>
            <a:ext cx="59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3 — EXEMPLES DE CHANGEMENT D'ÉTAT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000" y="3542400"/>
            <a:ext cx="6012000" cy="5404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Donner un exemple pour chacun des changements d'état suivants : vaporisation, solidification, condensation.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physiques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B — Corps pur ou mélange : le palier de température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9</a:t>
            </a:r>
          </a:p>
        </p:txBody>
      </p:sp>
      <p:pic>
        <p:nvPicPr>
          <p:cNvPr id="12" name="Picture 11" descr="site-t1c2t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007999"/>
            <a:ext cx="6840000" cy="361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4000" y="4682799"/>
            <a:ext cx="684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Synthèse du TP3 — ① palier à 0 °C : les états solide et liquide coexistent. ② rupture de pente vers −4 °C pour l'eau salée.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16000" y="1007999"/>
            <a:ext cx="4464000" cy="1278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416000" y="1007999"/>
            <a:ext cx="46800" cy="1278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8000" y="1108800"/>
            <a:ext cx="410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TEMPÉRATURE DE CHANGEMENT D'ÉTAT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8000" y="1350000"/>
            <a:ext cx="4140000" cy="82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Lors du changement d'état d'un corps pur, la température ne varie plus. Cette température est appelée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température de changement d'état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11502000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16000" y="2484000"/>
            <a:ext cx="4464000" cy="235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416000" y="2484000"/>
            <a:ext cx="46800" cy="23544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8000" y="2584800"/>
            <a:ext cx="410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6 — CORPS PUR OU MÉLANGE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8000" y="2826000"/>
            <a:ext cx="4140000" cy="10052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On étudie deux courbes de refroidissement : la première présente un palier de température vers 6 °C ; la seconde (refroidissement d'un cola) décroît régulièrement, sans palier.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8000" y="3921298"/>
            <a:ext cx="4140000" cy="7728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Déterminer si chaque étude porte sur un corps pur ou sur un mélange. Si possible, préciser la température de changement d'état.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physiques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C — Équation d'un changement d'état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972000"/>
            <a:ext cx="11556000" cy="1828800"/>
          </a:xfrm>
          <a:prstGeom prst="rect">
            <a:avLst/>
          </a:prstGeom>
          <a:solidFill>
            <a:srgbClr val="EF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972000"/>
            <a:ext cx="46800" cy="18288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072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3F9E"/>
                </a:solidFill>
                <a:latin typeface="Courier New"/>
              </a:rPr>
              <a:t>PROPRIÉTÉ — ÉCRITURE D'UN CHANGEMENT D'ÉTAT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14000"/>
            <a:ext cx="11232000" cy="137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Au cours d'un changement d'état physique, les espèces chimiques ne sont pas modifiées. Pour modéliser le changement d'état physique d'une espèce chimique A, on écrit l'équation :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A (état physique initial)   →   A (état physique final)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1000" b="1" i="0">
                <a:solidFill>
                  <a:srgbClr val="4C8A58"/>
                </a:solidFill>
                <a:latin typeface="Courier New"/>
              </a:rPr>
              <a:t>EXEMPLE — FUSION DE L'EAU     </a:t>
            </a:r>
            <a:r>
              <a:rPr sz="1700" b="0" i="0">
                <a:solidFill>
                  <a:srgbClr val="141A26"/>
                </a:solidFill>
                <a:latin typeface="Cambria"/>
              </a:rPr>
              <a:t>H₂O (s)   →   H₂O (l)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7999" y="110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11502000" y="104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2998800"/>
            <a:ext cx="5616000" cy="18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24000" y="2998800"/>
            <a:ext cx="46800" cy="1818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" y="30996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4 — ÉTABLIR UNE ÉQUATION DE CHANGEMENT D'ÉTAT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000" y="3340800"/>
            <a:ext cx="5292000" cy="5404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Établir l'équation de la condensation de l'eau, puis de la solidification du fer Fe.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999" y="2998800"/>
            <a:ext cx="5616000" cy="18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999" y="2998800"/>
            <a:ext cx="46800" cy="1818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5999" y="30996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5 — IDENTIFIER UN CHANGEMENT D'ÉTAT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5999" y="3340800"/>
            <a:ext cx="5292000" cy="13312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Quels sont les changements d'état décrits par les équations suivantes ?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H₂O (g)   →   H₂O (s)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Cu (s)   →   Cu (g)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physiques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D — Énergie de changement d'état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007999"/>
            <a:ext cx="11556000" cy="1278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1007999"/>
            <a:ext cx="46800" cy="1278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108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ÉNERGIE MASSIQUE DE CHANGEMENT D'ÉTAT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50000"/>
            <a:ext cx="11232000" cy="82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L'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énergie massique de changement d'état L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d'un corps pur est l'énergie thermique que doit absorber ou libérer par transfert thermique 1 kg de ce corps pour le faire changer d'état à sa température de changement d'état, pour une pression donnée. Elle s'exprime en J·kg⁻¹.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7999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11502000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pic>
        <p:nvPicPr>
          <p:cNvPr id="18" name="Picture 17" descr="site-t1c2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2484000"/>
            <a:ext cx="6840000" cy="31268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4000" y="5675657"/>
            <a:ext cx="684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6 — Pour passer d'un état condensé vers un état aux liaisons faibles ou inexistantes, la matière prend de l'énergie au milieu extérieur, et réciproquement.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88000" y="2484000"/>
            <a:ext cx="4392000" cy="2343600"/>
          </a:xfrm>
          <a:prstGeom prst="rect">
            <a:avLst/>
          </a:prstGeom>
          <a:solidFill>
            <a:srgbClr val="EF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488000" y="2484000"/>
            <a:ext cx="46800" cy="23436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0000" y="2584800"/>
            <a:ext cx="4031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3F9E"/>
                </a:solidFill>
                <a:latin typeface="Courier New"/>
              </a:rPr>
              <a:t>PROPRIÉTÉ — SIGNE DE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2826000"/>
            <a:ext cx="4067999" cy="189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L'énergie pour passer d'un état 1 à un état 2 est la même, au signe près, que pour passer de l'état 2 à l'état 1 :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1">
                <a:solidFill>
                  <a:srgbClr val="141A26"/>
                </a:solidFill>
                <a:latin typeface="Cambria"/>
              </a:rPr>
              <a:t>L</a:t>
            </a:r>
            <a:r>
              <a:rPr sz="1900" b="0" i="1" baseline="-25000">
                <a:solidFill>
                  <a:srgbClr val="141A26"/>
                </a:solidFill>
                <a:latin typeface="Cambria"/>
              </a:rPr>
              <a:t>fusion</a:t>
            </a:r>
            <a:r>
              <a:rPr sz="1900" b="0" i="1">
                <a:solidFill>
                  <a:srgbClr val="141A26"/>
                </a:solidFill>
                <a:latin typeface="Cambria"/>
              </a:rPr>
              <a:t>  =  − </a:t>
            </a:r>
            <a:r>
              <a:rPr sz="1900" b="0" i="1">
                <a:solidFill>
                  <a:srgbClr val="141A26"/>
                </a:solidFill>
                <a:latin typeface="Cambria"/>
              </a:rPr>
              <a:t>L</a:t>
            </a:r>
            <a:r>
              <a:rPr sz="1900" b="0" i="1" baseline="-25000">
                <a:solidFill>
                  <a:srgbClr val="141A26"/>
                </a:solidFill>
                <a:latin typeface="Cambria"/>
              </a:rPr>
              <a:t>solidification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1">
                <a:solidFill>
                  <a:srgbClr val="141A26"/>
                </a:solidFill>
                <a:latin typeface="Cambria"/>
              </a:rPr>
              <a:t>L</a:t>
            </a:r>
            <a:r>
              <a:rPr sz="1900" b="0" i="1" baseline="-25000">
                <a:solidFill>
                  <a:srgbClr val="141A26"/>
                </a:solidFill>
                <a:latin typeface="Cambria"/>
              </a:rPr>
              <a:t>sublimation</a:t>
            </a:r>
            <a:r>
              <a:rPr sz="1900" b="0" i="1">
                <a:solidFill>
                  <a:srgbClr val="141A26"/>
                </a:solidFill>
                <a:latin typeface="Cambria"/>
              </a:rPr>
              <a:t>  =  − </a:t>
            </a:r>
            <a:r>
              <a:rPr sz="1900" b="0" i="1">
                <a:solidFill>
                  <a:srgbClr val="141A26"/>
                </a:solidFill>
                <a:latin typeface="Cambria"/>
              </a:rPr>
              <a:t>L</a:t>
            </a:r>
            <a:r>
              <a:rPr sz="1900" b="0" i="1" baseline="-25000">
                <a:solidFill>
                  <a:srgbClr val="141A26"/>
                </a:solidFill>
                <a:latin typeface="Cambria"/>
              </a:rPr>
              <a:t>condensation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1">
                <a:solidFill>
                  <a:srgbClr val="6B6F7A"/>
                </a:solidFill>
                <a:latin typeface="Calibri"/>
              </a:rPr>
              <a:t>Le signe traduit le sens de l'échange d'énergie.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7999" y="2613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5" name="Oval 24"/>
          <p:cNvSpPr/>
          <p:nvPr/>
        </p:nvSpPr>
        <p:spPr>
          <a:xfrm>
            <a:off x="11502000" y="2556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physiques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D — La relation entre énergie, masse et 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972000"/>
            <a:ext cx="11556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41A26"/>
                </a:solidFill>
                <a:latin typeface="Calibri"/>
              </a:rPr>
              <a:t>Pour 1 kg, l'énergie massique suffit. Pour une masse quelconque, il faut une relation : l'énergie Q échangée est le produit de la masse par l'énergie massique.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2000" y="1655999"/>
            <a:ext cx="9864000" cy="1512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68000" y="1835999"/>
            <a:ext cx="4734720" cy="115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1">
                <a:solidFill>
                  <a:srgbClr val="FDFCF8"/>
                </a:solidFill>
                <a:latin typeface="Cambria"/>
              </a:rPr>
              <a:t>Q</a:t>
            </a:r>
            <a:r>
              <a:rPr sz="2600" b="0" i="1">
                <a:solidFill>
                  <a:srgbClr val="FDFCF8"/>
                </a:solidFill>
                <a:latin typeface="Cambria"/>
              </a:rPr>
              <a:t> = </a:t>
            </a:r>
            <a:r>
              <a:rPr sz="2600" b="0" i="1">
                <a:solidFill>
                  <a:srgbClr val="FDFCF8"/>
                </a:solidFill>
                <a:latin typeface="Cambria"/>
              </a:rPr>
              <a:t>m</a:t>
            </a:r>
            <a:r>
              <a:rPr sz="2600" b="0" i="1">
                <a:solidFill>
                  <a:srgbClr val="FDFCF8"/>
                </a:solidFill>
                <a:latin typeface="Cambria"/>
              </a:rPr>
              <a:t> × </a:t>
            </a:r>
            <a:r>
              <a:rPr sz="2600" b="0" i="1">
                <a:solidFill>
                  <a:srgbClr val="FDFCF8"/>
                </a:solidFill>
                <a:latin typeface="Cambria"/>
              </a:rPr>
              <a:t>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1280" y="1835999"/>
            <a:ext cx="10800" cy="1152000"/>
          </a:xfrm>
          <a:prstGeom prst="rect">
            <a:avLst/>
          </a:prstGeom>
          <a:solidFill>
            <a:srgbClr val="6B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74479" y="1818000"/>
            <a:ext cx="39456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8F6E"/>
                </a:solidFill>
                <a:latin typeface="Courier New"/>
              </a:rPr>
              <a:t>GRANDEURS &amp; UNITÉS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4479" y="2033999"/>
            <a:ext cx="3945600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Q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énergie échangée · J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m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masse · kg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L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énergie massique · J·kg⁻¹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0000" y="149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9" name="Oval 18"/>
          <p:cNvSpPr/>
          <p:nvPr/>
        </p:nvSpPr>
        <p:spPr>
          <a:xfrm>
            <a:off x="10584000" y="144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" y="3384000"/>
            <a:ext cx="5616000" cy="210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24000" y="3384000"/>
            <a:ext cx="46800" cy="2106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000" y="3484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8 — SOLIDIFICATION DU 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000" y="3726000"/>
            <a:ext cx="5292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On étudie la solidification de 200 g de fer pur en fusion.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000" y="4124024"/>
            <a:ext cx="5292000" cy="987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6B6F7A"/>
                </a:solidFill>
                <a:latin typeface="Courier New"/>
              </a:rPr>
              <a:t>Données : L</a:t>
            </a:r>
            <a:r>
              <a:rPr sz="1200" b="0" i="0" baseline="-25000">
                <a:solidFill>
                  <a:srgbClr val="6B6F7A"/>
                </a:solidFill>
                <a:latin typeface="Courier New"/>
              </a:rPr>
              <a:t>fusion</a:t>
            </a:r>
            <a:r>
              <a:rPr sz="1200" b="0" i="0">
                <a:solidFill>
                  <a:srgbClr val="6B6F7A"/>
                </a:solidFill>
                <a:latin typeface="Courier New"/>
              </a:rPr>
              <a:t>(fer) = 270 kJ·kg⁻¹ · L</a:t>
            </a:r>
            <a:r>
              <a:rPr sz="1200" b="0" i="0" baseline="-25000">
                <a:solidFill>
                  <a:srgbClr val="6B6F7A"/>
                </a:solidFill>
                <a:latin typeface="Courier New"/>
              </a:rPr>
              <a:t>solidification</a:t>
            </a:r>
            <a:r>
              <a:rPr sz="1200" b="0" i="0">
                <a:solidFill>
                  <a:srgbClr val="6B6F7A"/>
                </a:solidFill>
                <a:latin typeface="Courier New"/>
              </a:rPr>
              <a:t>(fer) = −270 kJ·kg⁻¹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Quelle énergie est transférée avec le milieu extérieur lors de cette solidification ? Schématiser le transfert d'énergie.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999" y="3384000"/>
            <a:ext cx="5616000" cy="210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63999" y="3384000"/>
            <a:ext cx="46800" cy="2106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5999" y="3484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9 — ÉNERGIE DE LA TSAR BOMBA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5999" y="3726000"/>
            <a:ext cx="5292000" cy="5404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La tsar bomba, l'arme la plus puissante jamais testée, a libéré une énergie de 57 mégatonnes de TNT.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5999" y="4356449"/>
            <a:ext cx="5292000" cy="987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6B6F7A"/>
                </a:solidFill>
                <a:latin typeface="Courier New"/>
              </a:rPr>
              <a:t>Données : 1 Mt = 4,2 × 10¹⁵ J · L</a:t>
            </a:r>
            <a:r>
              <a:rPr sz="1200" b="0" i="0" baseline="-25000">
                <a:solidFill>
                  <a:srgbClr val="6B6F7A"/>
                </a:solidFill>
                <a:latin typeface="Courier New"/>
              </a:rPr>
              <a:t>vaporisation</a:t>
            </a:r>
            <a:r>
              <a:rPr sz="1200" b="0" i="0">
                <a:solidFill>
                  <a:srgbClr val="6B6F7A"/>
                </a:solidFill>
                <a:latin typeface="Courier New"/>
              </a:rPr>
              <a:t>(eau) = 2,3 × 10⁶ J·kg⁻¹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Quelle masse d'eau pourrait-on vaporiser avec l'énergie libérée par la tsar bomba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4000" y="1080000"/>
            <a:ext cx="432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0" b="1" i="0">
                <a:solidFill>
                  <a:srgbClr val="3A445C"/>
                </a:solidFill>
                <a:latin typeface="Cambria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2700000"/>
            <a:ext cx="1008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DFCF8"/>
                </a:solidFill>
                <a:latin typeface="Cambria"/>
              </a:rPr>
              <a:t>Transformations chimiques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4000" y="3348000"/>
            <a:ext cx="1800000" cy="216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3636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A — États physiques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3977999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B — Système chimique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4320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C — Représenter une transformation chimique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4662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D — Lois de conservation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6000" y="5003999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E — Équation de réaction chimique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5346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F — Stœchiométrie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5688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2B2"/>
                </a:solidFill>
                <a:latin typeface="Courier New"/>
              </a:rPr>
              <a:t>G — Réactif limitant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chimiques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A — États physiques   ·   B — Système chimique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972000"/>
            <a:ext cx="5616000" cy="1908000"/>
          </a:xfrm>
          <a:prstGeom prst="rect">
            <a:avLst/>
          </a:prstGeom>
          <a:solidFill>
            <a:srgbClr val="EF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972000"/>
            <a:ext cx="46800" cy="1908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072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3F9E"/>
                </a:solidFill>
                <a:latin typeface="Courier New"/>
              </a:rPr>
              <a:t>NOTATIONS — LES ÉTATS PHYSIQUES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14000"/>
            <a:ext cx="5292000" cy="14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4A3F9E"/>
                </a:solidFill>
                <a:latin typeface="Cambria"/>
              </a:rPr>
              <a:t>(s)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 solide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         </a:t>
            </a:r>
            <a:r>
              <a:rPr sz="2200" b="1" i="0">
                <a:solidFill>
                  <a:srgbClr val="4A3F9E"/>
                </a:solidFill>
                <a:latin typeface="Cambria"/>
              </a:rPr>
              <a:t>(l)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 liquide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         </a:t>
            </a:r>
            <a:r>
              <a:rPr sz="2200" b="1" i="0">
                <a:solidFill>
                  <a:srgbClr val="4A3F9E"/>
                </a:solidFill>
                <a:latin typeface="Cambria"/>
              </a:rPr>
              <a:t>(g)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 gazeux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200" b="1" i="0">
                <a:solidFill>
                  <a:srgbClr val="D6402B"/>
                </a:solidFill>
                <a:latin typeface="Cambria"/>
              </a:rPr>
              <a:t>(aq)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 aqueux : molécules et ions dissous dans l'eau, dits hydratés.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 i="1">
                <a:solidFill>
                  <a:srgbClr val="6B6F7A"/>
                </a:solidFill>
                <a:latin typeface="Calibri"/>
              </a:rPr>
              <a:t>Ce n'est pas un quatrième état de la matière, mais une notation très utilisée pour les espèces en solution.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7999" y="110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5562000" y="104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999" y="972000"/>
            <a:ext cx="5616000" cy="1908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999" y="972000"/>
            <a:ext cx="46800" cy="1908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999" y="1072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SYSTÈME CHIMIQUE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999" y="1314000"/>
            <a:ext cx="5292000" cy="14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système chimique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un échantillon de matière décrit par différents paramètres : des grandeurs physiques (température, pression…) ; les espèces chimiques qui le constituent ; leurs états physiques ; leurs quantités de matière.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7999" y="110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3" name="Oval 22"/>
          <p:cNvSpPr/>
          <p:nvPr/>
        </p:nvSpPr>
        <p:spPr>
          <a:xfrm>
            <a:off x="11502000" y="104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" y="3078000"/>
            <a:ext cx="11556000" cy="21240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24000" y="3078000"/>
            <a:ext cx="46800" cy="2124000"/>
          </a:xfrm>
          <a:prstGeom prst="rect">
            <a:avLst/>
          </a:prstGeom>
          <a:solidFill>
            <a:srgbClr val="4C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000" y="3178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C8A58"/>
                </a:solidFill>
                <a:latin typeface="Courier New"/>
              </a:rPr>
              <a:t>EXEMPLE — UNE SOLUTION DE SULFATE DE CUIVRE, DÉCRITE COMME UN SYSTÈME CHIMIQUE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000" y="3420000"/>
            <a:ext cx="11232000" cy="16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pic>
        <p:nvPicPr>
          <p:cNvPr id="28" name="Picture 27" descr="t1c2-solution-sulfate-cuiv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420000"/>
            <a:ext cx="1300924" cy="165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160000" y="3438000"/>
            <a:ext cx="9504000" cy="16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000" b="1" i="0">
                <a:solidFill>
                  <a:srgbClr val="6B6F7A"/>
                </a:solidFill>
                <a:latin typeface="Courier New"/>
              </a:rPr>
              <a:t>IMAGE 8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000" b="1" i="0">
                <a:solidFill>
                  <a:srgbClr val="4C8A58"/>
                </a:solidFill>
                <a:latin typeface="Courier New"/>
              </a:rPr>
              <a:t>QUALITATIVE  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θ = 20 °C  ·  P = 1 bar  ·  ions cuivre (II) Cu²⁺(aq)  ·  ions sulfate SO₄²⁻(aq)  ·  eau H₂O(l)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000" b="1" i="0">
                <a:solidFill>
                  <a:srgbClr val="4C8A58"/>
                </a:solidFill>
                <a:latin typeface="Courier New"/>
              </a:rPr>
              <a:t>QUANTITATIVE  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il faut en plus connaître la quantité de matière de chacune de ces espèces chimiques.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chimiques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C — Représenter une transformation chimique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972000"/>
            <a:ext cx="5903999" cy="2124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972000"/>
            <a:ext cx="46800" cy="2124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072800"/>
            <a:ext cx="5543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DÉFINITIONS — ÉTATS, RÉACTIFS, PRODUITS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14000"/>
            <a:ext cx="5579999" cy="16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L'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état initial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du système chimique est son état avant la transformation ; l'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état final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, son état après.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Les espèces introduites à l'état initial sont les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réactifs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; celles obtenues à l'état final sont les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produits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Une espèce présente mais qui ne subit aucune modification est une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espèce spectatrice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5999" y="110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5849999" y="104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000" y="3294000"/>
            <a:ext cx="590399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1D9AAA"/>
                </a:solidFill>
                <a:latin typeface="Calibri"/>
              </a:rPr>
              <a:t>La transformation chimique est le passage de l'état initial à l'état final.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3999" y="972000"/>
            <a:ext cx="5436000" cy="4473754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443999" y="972000"/>
            <a:ext cx="46800" cy="4473754"/>
          </a:xfrm>
          <a:prstGeom prst="rect">
            <a:avLst/>
          </a:prstGeom>
          <a:solidFill>
            <a:srgbClr val="4C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5999" y="1072800"/>
            <a:ext cx="50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C8A58"/>
                </a:solidFill>
                <a:latin typeface="Courier New"/>
              </a:rPr>
              <a:t>EXEMPLE — CUIVRE DANS DU NITRATE D'ARGENT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5999" y="1314000"/>
            <a:ext cx="5112000" cy="40237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pic>
        <p:nvPicPr>
          <p:cNvPr id="23" name="Picture 22" descr="t1c2-experience-argent-cuiv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999" y="1314000"/>
            <a:ext cx="3311999" cy="251175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05999" y="3933754"/>
            <a:ext cx="511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6F7A"/>
                </a:solidFill>
                <a:latin typeface="Courier New"/>
              </a:rPr>
              <a:t>à 20 °C et 1 bar — température et pression ne changent pas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5999" y="4149754"/>
            <a:ext cx="246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4C8A58"/>
                </a:solidFill>
                <a:latin typeface="Courier New"/>
              </a:rPr>
              <a:t>ÉTAT INITIAL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41A26"/>
                </a:solidFill>
                <a:latin typeface="Calibri"/>
              </a:rPr>
              <a:t>n(Cu) = 1,0 mol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41A26"/>
                </a:solidFill>
                <a:latin typeface="Calibri"/>
              </a:rPr>
              <a:t>n(Ag⁺) = 0,1 mol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41A26"/>
                </a:solidFill>
                <a:latin typeface="Calibri"/>
              </a:rPr>
              <a:t>n(NO₃⁻) = 0,1 mol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1999" y="4149754"/>
            <a:ext cx="246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4C8A58"/>
                </a:solidFill>
                <a:latin typeface="Courier New"/>
              </a:rPr>
              <a:t>ÉTAT FINAL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41A26"/>
                </a:solidFill>
                <a:latin typeface="Calibri"/>
              </a:rPr>
              <a:t>n(Ag) = 0,1 mol · n(Cu²⁺) = 0,05 mol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41A26"/>
                </a:solidFill>
                <a:latin typeface="Calibri"/>
              </a:rPr>
              <a:t>n(Cu) = 0,95 mol (reste)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141A26"/>
                </a:solidFill>
                <a:latin typeface="Calibri"/>
              </a:rPr>
              <a:t>n(NO₃⁻) = 0,1 mol (spectateur)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chimiques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D — Lois de conservation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972000"/>
            <a:ext cx="11556000" cy="1044000"/>
          </a:xfrm>
          <a:prstGeom prst="rect">
            <a:avLst/>
          </a:prstGeom>
          <a:solidFill>
            <a:srgbClr val="EF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972000"/>
            <a:ext cx="46800" cy="1044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072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3F9E"/>
                </a:solidFill>
                <a:latin typeface="Courier New"/>
              </a:rPr>
              <a:t>PROPRIÉTÉ — LES DEUX LOIS DE CONSERVATION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14000"/>
            <a:ext cx="11232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Au cours d'une transformation chimique, il y a : </a:t>
            </a:r>
            <a:r>
              <a:rPr sz="1500" b="1" i="0">
                <a:solidFill>
                  <a:srgbClr val="4A3F9E"/>
                </a:solidFill>
                <a:latin typeface="Calibri"/>
              </a:rPr>
              <a:t>conservation des éléments chimiques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(nature et quantités) ; </a:t>
            </a:r>
            <a:r>
              <a:rPr sz="1500" b="1" i="0">
                <a:solidFill>
                  <a:srgbClr val="4A3F9E"/>
                </a:solidFill>
                <a:latin typeface="Calibri"/>
              </a:rPr>
              <a:t>conservation de la charge électrique globale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(électrons).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7999" y="110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11502000" y="104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pic>
        <p:nvPicPr>
          <p:cNvPr id="18" name="Picture 17" descr="t1c2-lavoisier-dav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2214000"/>
            <a:ext cx="2875500" cy="383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87500" y="2214000"/>
            <a:ext cx="7920000" cy="38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8A6A3A"/>
                </a:solidFill>
                <a:latin typeface="Courier New"/>
              </a:rPr>
              <a:t>ANTOINE DE LAVOISIER (1743 – 1794) · PÈRE DE LA CHIMIE MODERNE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Entre 1783 et 1785, Lavoisier décompose l'eau puis la recompose : elle n'est pas un élément, mais un composé d'hydrogène et d'oxygène.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141A26"/>
                </a:solidFill>
                <a:latin typeface="Cambria"/>
              </a:rPr>
              <a:t>2 H₂O (l)   →   2 H₂ (g)  +  O₂ (g)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À l'état initial comme à l'état final : 4 atomes d'hydrogène, 2 atomes d'oxygène, et un ensemble électriquement neutre.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500" b="0" i="1">
                <a:solidFill>
                  <a:srgbClr val="6B6F7A"/>
                </a:solidFill>
                <a:latin typeface="Calibri"/>
              </a:rPr>
              <a:t>« Rien ne se perd, rien ne se crée, tout se transforme. 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chimiques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E — Équation de réaction chimique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972000"/>
            <a:ext cx="5616000" cy="1278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972000"/>
            <a:ext cx="46800" cy="1278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072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RÉACTION CHIMIQUE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14000"/>
            <a:ext cx="5292000" cy="82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Une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réaction chimique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un processus modélisant une transformation chimique au niveau microscopique. Elle est décrite par une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équation de réaction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(ou équation chimique).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7999" y="110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5562000" y="104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999" y="972000"/>
            <a:ext cx="5616000" cy="2433600"/>
          </a:xfrm>
          <a:prstGeom prst="rect">
            <a:avLst/>
          </a:prstGeom>
          <a:solidFill>
            <a:srgbClr val="EF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999" y="972000"/>
            <a:ext cx="46800" cy="24336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999" y="1072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3F9E"/>
                </a:solidFill>
                <a:latin typeface="Courier New"/>
              </a:rPr>
              <a:t>PROPRIÉTÉ — ÉCRITURE D'UNE ÉQUATION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999" y="1314000"/>
            <a:ext cx="5292000" cy="198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L'écriture symbolique d'une équation de réaction contient 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— les formules brutes et les états physiques des réactifs (à gauche) et des produits (à droite) 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— une flèche symbolisant l'évolution du système 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— des coefficients respectant les deux lois de conservation, appelés </a:t>
            </a:r>
            <a:r>
              <a:rPr sz="1500" b="1" i="0">
                <a:solidFill>
                  <a:srgbClr val="4A3F9E"/>
                </a:solidFill>
                <a:latin typeface="Calibri"/>
              </a:rPr>
              <a:t>coefficients stœchiométriques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lorsqu'ils sont les plus petits possibles.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7999" y="110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3" name="Oval 22"/>
          <p:cNvSpPr/>
          <p:nvPr/>
        </p:nvSpPr>
        <p:spPr>
          <a:xfrm>
            <a:off x="11502000" y="104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" y="3603600"/>
            <a:ext cx="11556000" cy="1969200"/>
          </a:xfrm>
          <a:prstGeom prst="rect">
            <a:avLst/>
          </a:prstGeom>
          <a:solidFill>
            <a:srgbClr val="FB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24000" y="3603600"/>
            <a:ext cx="46800" cy="1969200"/>
          </a:xfrm>
          <a:prstGeom prst="rect">
            <a:avLst/>
          </a:prstGeom>
          <a:solidFill>
            <a:srgbClr val="B28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000" y="3704399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28A1D"/>
                </a:solidFill>
                <a:latin typeface="Courier New"/>
              </a:rPr>
              <a:t>MÉTHODE — ÉCRIRE ET ÉQUILIBRER UNE ÉQUATION DE RÉACTION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000" y="3945599"/>
            <a:ext cx="11232000" cy="15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I.    Identifier les réactifs et les produits de la réaction.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II.   Écrire leurs formules brutes, en précisant leurs états physiques, de part et d'autre de la flèche.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III.  Compter tous les éléments chimiques de part et d'autre de la flèche ; placer si besoin des coefficients, en commençant par les éléments les moins présents.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IV.   Vérifier que les charges sont équilibrées.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7999" y="3733199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9" name="Oval 28"/>
          <p:cNvSpPr/>
          <p:nvPr/>
        </p:nvSpPr>
        <p:spPr>
          <a:xfrm>
            <a:off x="11502000" y="3675599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chimiques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E — Écrire et équilibrer une équation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972000"/>
            <a:ext cx="11556000" cy="1821599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972000"/>
            <a:ext cx="46800" cy="1821599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072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10 — TEST DE RECONNAISSANCE DES IONS FER (II)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14000"/>
            <a:ext cx="11232000" cy="703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Les ions fer (II) réagissent avec les ions hydroxyde de la soude pour former un précipité vert d'hydroxyde de fer (II).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ion fer (II)  </a:t>
            </a:r>
            <a:r>
              <a:rPr sz="1900" b="0" i="0">
                <a:solidFill>
                  <a:srgbClr val="141A26"/>
                </a:solidFill>
                <a:latin typeface="Cambria"/>
              </a:rPr>
              <a:t>Fe²⁺(aq)</a:t>
            </a:r>
            <a:r>
              <a:rPr sz="1000" b="0" i="0">
                <a:solidFill>
                  <a:srgbClr val="6B6F7A"/>
                </a:solidFill>
                <a:latin typeface="Courier New"/>
              </a:rPr>
              <a:t>        ion hydroxyde  </a:t>
            </a:r>
            <a:r>
              <a:rPr sz="1900" b="0" i="0">
                <a:solidFill>
                  <a:srgbClr val="141A26"/>
                </a:solidFill>
                <a:latin typeface="Cambria"/>
              </a:rPr>
              <a:t>HO⁻(aq)</a:t>
            </a:r>
            <a:r>
              <a:rPr sz="1000" b="0" i="0">
                <a:solidFill>
                  <a:srgbClr val="6B6F7A"/>
                </a:solidFill>
                <a:latin typeface="Courier New"/>
              </a:rPr>
              <a:t>        hydroxyde de fer (II)  </a:t>
            </a:r>
            <a:r>
              <a:rPr sz="1900" b="0" i="0">
                <a:solidFill>
                  <a:srgbClr val="141A26"/>
                </a:solidFill>
                <a:latin typeface="Cambria"/>
              </a:rPr>
              <a:t>Fe(OH)₂ (s)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00" y="2107430"/>
            <a:ext cx="11232000" cy="5404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En suivant la méthode, écrire et équilibrer l'équation de cette réaction. Identifier ensuite les réactifs, les produits et les coefficients stœchiométriques, puis vérifier les deux lois de conservation.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0" y="2991600"/>
            <a:ext cx="5616000" cy="26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24000" y="2991600"/>
            <a:ext cx="46800" cy="26064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00" y="30924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11 — ÉQUILIBRER DES ÉQUATIONS DE RÉACTION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" y="3333600"/>
            <a:ext cx="5292000" cy="21220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Équilibrer ces équations de réaction en ajoutant les coefficients stœchiométriques manquants.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H⁺  +  Fe   →   H₂  +  Fe²⁺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Cu²⁺  +  HO⁻   →   Cu(HO)₂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CaCO₃  +  H⁺   →   Ca²⁺  +  HCO₃⁻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CH₄  +  O₂   →   H₂O  +  CO₂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999" y="2991600"/>
            <a:ext cx="5616000" cy="26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63999" y="2991600"/>
            <a:ext cx="46800" cy="26064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5999" y="30924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12 — COMBUSTION DU GLUCOSE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999" y="3333600"/>
            <a:ext cx="5292000" cy="10052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Lors d'un effort physique prolongé, le glucose C₆H₁₂O₆ est dégradé selon un processus équivalant à sa combustion complète dans le dioxygène, produisant de l'eau et du dioxyde de carbone.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5999" y="4428898"/>
            <a:ext cx="5292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Écrire et équilibrer cette équation de réaction.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chimiques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F — Qu'est-ce que la stœchiométrie 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972000"/>
            <a:ext cx="11556000" cy="1749600"/>
          </a:xfrm>
          <a:prstGeom prst="rect">
            <a:avLst/>
          </a:prstGeom>
          <a:solidFill>
            <a:srgbClr val="EF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972000"/>
            <a:ext cx="46800" cy="17496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072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3F9E"/>
                </a:solidFill>
                <a:latin typeface="Courier New"/>
              </a:rPr>
              <a:t>PROPRIÉTÉ — LIRE UNE ÉQUATION EN PROPORTIONS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14000"/>
            <a:ext cx="11232000" cy="129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Au-delà de l'équilibrage, les nombres stœchiométriques ont un sens physique : à l'échelle microscopique, ils renseignent sur les </a:t>
            </a:r>
            <a:r>
              <a:rPr sz="1500" b="1" i="0">
                <a:solidFill>
                  <a:srgbClr val="4A3F9E"/>
                </a:solidFill>
                <a:latin typeface="Calibri"/>
              </a:rPr>
              <a:t>proportions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, en nombre d'atomes, d'ions ou de molécules, dans lesquelles les réactifs réagissent et les produits se forment.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Cu (s)  +  2 Ag⁺(aq)   →   Cu²⁺(aq)  +  2 Ag (s)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4A3F9E"/>
                </a:solidFill>
                <a:latin typeface="Calibri"/>
              </a:rPr>
              <a:t>« Si 1 atome de cuivre est consommé, alors 2 ions Ag⁺ seront aussi consommés, et il se formera 2 atomes d'argent et 1 ion Cu²⁺.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7999" y="110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11502000" y="104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2919600"/>
            <a:ext cx="5616000" cy="20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24000" y="2919600"/>
            <a:ext cx="46800" cy="2052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" y="3020399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13 — LECTURE MICROSCOPIQUE D'UNE ÉQUATION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000" y="3261599"/>
            <a:ext cx="5292000" cy="703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On considère l'équation de combustion du méthane :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CH₄  +  2 O₂   →   2 H₂O  +  CO₂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000" y="4055030"/>
            <a:ext cx="5292000" cy="7728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Combien de molécules de chaque réactif sont consommées, et de chaque produit formées ? Rédiger une phrase sur le modèle « si … alors … ».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999" y="2919600"/>
            <a:ext cx="5616000" cy="20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63999" y="2919600"/>
            <a:ext cx="46800" cy="2052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5999" y="3020399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14 — PROPORTIONS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5999" y="3261599"/>
            <a:ext cx="5292000" cy="703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On reprend la réaction entre le cuivre et les ions argent :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Cu (s)  +  2 Ag⁺(aq)   →   Cu²⁺(aq)  +  2 Ag 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5999" y="4055030"/>
            <a:ext cx="5292000" cy="5404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Combien d'atomes d'argent seront produits si 5 atomes de cuivre réagissent avec 10 ions Ag⁺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Transformations chimiques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G — Réactif limitant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972000"/>
            <a:ext cx="11556000" cy="1044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972000"/>
            <a:ext cx="46800" cy="1044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072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RÉACTIF LIMITANT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14000"/>
            <a:ext cx="11232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Le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réactif limitant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le réactif qui est complètement consommé dans la réaction. Une fois entièrement consommé, il arrête la réaction et limite donc le produit fabriqué.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7999" y="110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11502000" y="104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pic>
        <p:nvPicPr>
          <p:cNvPr id="18" name="Picture 17" descr="site-t1c2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2214000"/>
            <a:ext cx="6660000" cy="20181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18000" y="227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0" name="Oval 19"/>
          <p:cNvSpPr/>
          <p:nvPr/>
        </p:nvSpPr>
        <p:spPr>
          <a:xfrm>
            <a:off x="6912000" y="221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3999" y="2574000"/>
            <a:ext cx="4536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41A26"/>
                </a:solidFill>
                <a:latin typeface="Courier New"/>
              </a:rPr>
              <a:t>Image 9</a:t>
            </a:r>
            <a:r>
              <a:rPr sz="1100" b="0" i="0">
                <a:solidFill>
                  <a:srgbClr val="6B6F7A"/>
                </a:solidFill>
                <a:latin typeface="Courier New"/>
              </a:rPr>
              <a:t> — L'analogie du hot-dog.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41A26"/>
                </a:solidFill>
                <a:latin typeface="Calibri"/>
              </a:rPr>
              <a:t>5 saucisses, 4 petits pains : on n'assemble que 4 hot-dogs.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41A26"/>
                </a:solidFill>
                <a:latin typeface="Calibri"/>
              </a:rPr>
              <a:t>Le pain, entièrement consommé, est le </a:t>
            </a:r>
            <a:r>
              <a:rPr sz="1400" b="1" i="0">
                <a:solidFill>
                  <a:srgbClr val="B28A1D"/>
                </a:solidFill>
                <a:latin typeface="Calibri"/>
              </a:rPr>
              <a:t>réactif limitant</a:t>
            </a:r>
            <a:r>
              <a:rPr sz="1400" b="0" i="0">
                <a:solidFill>
                  <a:srgbClr val="141A26"/>
                </a:solidFill>
                <a:latin typeface="Calibri"/>
              </a:rPr>
              <a:t> ; il reste 1 saucisse, le </a:t>
            </a:r>
            <a:r>
              <a:rPr sz="1400" b="1" i="0">
                <a:solidFill>
                  <a:srgbClr val="D6402B"/>
                </a:solidFill>
                <a:latin typeface="Calibri"/>
              </a:rPr>
              <a:t>réactif en excès</a:t>
            </a:r>
            <a:r>
              <a:rPr sz="1400" b="0" i="0">
                <a:solidFill>
                  <a:srgbClr val="141A26"/>
                </a:solidFill>
                <a:latin typeface="Calibr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000" y="4449600"/>
            <a:ext cx="11556000" cy="15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24000" y="4449600"/>
            <a:ext cx="46800" cy="15876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000" y="45504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15 — COMBUSTION DU MÉTHANE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" y="4791600"/>
            <a:ext cx="11232000" cy="703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150 molécules de méthane réagissent avec 1000 molécules de dioxygène, selon l'équation :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CH₄  +  2 O₂   →   2 H₂O  +  CO₂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000" y="5585030"/>
            <a:ext cx="11232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Déterminer le réactif limitant, puis le nombre de molécules présentes à la fin de la réaction.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Pour le DS, je sais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les huit compétences du chapitre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2 — Transformations physiques et chimiques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936000"/>
            <a:ext cx="56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28A1D"/>
                </a:solidFill>
                <a:latin typeface="Courier New"/>
                <a:hlinkClick r:id="rId2"/>
              </a:rPr>
              <a:t>► KAHOOT — </a:t>
            </a:r>
            <a:r>
              <a:rPr sz="1300" b="0" i="0">
                <a:solidFill>
                  <a:srgbClr val="B28A1D"/>
                </a:solidFill>
                <a:latin typeface="Courier New"/>
                <a:hlinkClick r:id="rId2"/>
              </a:rPr>
              <a:t>transformations physiques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6000" y="936000"/>
            <a:ext cx="56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28A1D"/>
                </a:solidFill>
                <a:latin typeface="Courier New"/>
                <a:hlinkClick r:id="rId3"/>
              </a:rPr>
              <a:t>► KAHOOT — </a:t>
            </a:r>
            <a:r>
              <a:rPr sz="1300" b="0" i="0">
                <a:solidFill>
                  <a:srgbClr val="B28A1D"/>
                </a:solidFill>
                <a:latin typeface="Courier New"/>
                <a:hlinkClick r:id="rId3"/>
              </a:rPr>
              <a:t>transformations chimiques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936000"/>
            <a:ext cx="108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A26"/>
                </a:solidFill>
                <a:latin typeface="Cambria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68000" y="1475999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999" y="1458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Distinguer transformation physique et transformation chimique, et en donner des exemples.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2033999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999" y="2015999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Identifier le sens du transfert thermique et le relier aux termes exothermique et endothermique.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000" y="2591999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7999" y="2574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Reconnaître et nommer les états et les six changements d'état.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000" y="3150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7999" y="3131999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Établir l'écriture d'une équation de changement d'état.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000" y="3708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7999" y="3690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Exploiter la relation Q = m × L entre énergie transférée, masse et énergie massique.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000" y="4266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7999" y="4248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Connaître les définitions : système chimique, réaction chimique, réactifs, produits, espèce spectatrice.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" y="4824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7999" y="4806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Modéliser une transformation par une réaction, établir son équation et l'ajuster.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000" y="5382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7999" y="5363999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Identifier le réactif limitant à partir des quantités de matière et de l'équation.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