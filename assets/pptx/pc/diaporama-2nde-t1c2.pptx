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858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4000" y="1944000"/>
            <a:ext cx="9360000" cy="288000"/>
          </a:xfrm>
          <a:prstGeom prst="rect">
            <a:avLst/>
          </a:prstGeom>
          <a:noFill/>
        </p:spPr>
        <p:txBody>
          <a:bodyPr wrap="square" anchor="t" lIns="0" rIns="0" tIns="0" bIns="0">
            <a:spAutoFit/>
          </a:bodyPr>
          <a:lstStyle/>
          <a:p>
            <a:pPr algn="l">
              <a:lnSpc>
                <a:spcPct val="100000"/>
              </a:lnSpc>
            </a:pPr>
            <a:r>
              <a:rPr sz="1300" b="1" i="0">
                <a:solidFill>
                  <a:srgbClr val="1D9AAA"/>
                </a:solidFill>
                <a:latin typeface="Courier New"/>
              </a:rPr>
              <a:t>THÈME 1 · CONSTITUTION ET TRANSFORMATIONS DE LA MATIÈRE</a:t>
            </a:r>
          </a:p>
        </p:txBody>
      </p:sp>
      <p:sp>
        <p:nvSpPr>
          <p:cNvPr id="4" name="TextBox 3"/>
          <p:cNvSpPr txBox="1"/>
          <p:nvPr/>
        </p:nvSpPr>
        <p:spPr>
          <a:xfrm>
            <a:off x="864000" y="2232000"/>
            <a:ext cx="9720000" cy="1224000"/>
          </a:xfrm>
          <a:prstGeom prst="rect">
            <a:avLst/>
          </a:prstGeom>
          <a:noFill/>
        </p:spPr>
        <p:txBody>
          <a:bodyPr wrap="square" anchor="t" lIns="0" rIns="0" tIns="0" bIns="0">
            <a:spAutoFit/>
          </a:bodyPr>
          <a:lstStyle/>
          <a:p>
            <a:pPr algn="l">
              <a:lnSpc>
                <a:spcPct val="108000"/>
              </a:lnSpc>
            </a:pPr>
            <a:r>
              <a:rPr sz="4000" b="1" i="0">
                <a:solidFill>
                  <a:srgbClr val="FDFCF8"/>
                </a:solidFill>
                <a:latin typeface="Cambria"/>
              </a:rPr>
              <a:t>Chapitre 2 — Transformations physiques et chimiques</a:t>
            </a:r>
          </a:p>
        </p:txBody>
      </p:sp>
      <p:sp>
        <p:nvSpPr>
          <p:cNvPr id="5" name="TextBox 4"/>
          <p:cNvSpPr txBox="1"/>
          <p:nvPr/>
        </p:nvSpPr>
        <p:spPr>
          <a:xfrm>
            <a:off x="864000" y="3636000"/>
            <a:ext cx="10080000" cy="324000"/>
          </a:xfrm>
          <a:prstGeom prst="rect">
            <a:avLst/>
          </a:prstGeom>
          <a:noFill/>
        </p:spPr>
        <p:txBody>
          <a:bodyPr wrap="square" anchor="t" lIns="0" rIns="0" tIns="0" bIns="0">
            <a:spAutoFit/>
          </a:bodyPr>
          <a:lstStyle/>
          <a:p>
            <a:pPr algn="l">
              <a:lnSpc>
                <a:spcPct val="100000"/>
              </a:lnSpc>
            </a:pPr>
            <a:r>
              <a:rPr sz="1600" b="0" i="1">
                <a:solidFill>
                  <a:srgbClr val="9AA2B2"/>
                </a:solidFill>
                <a:latin typeface="Calibri"/>
              </a:rPr>
              <a:t>Un glaçon fond, une bougie brûle : dans un seul des deux cas les molécules elles-mêmes changent.</a:t>
            </a:r>
          </a:p>
        </p:txBody>
      </p:sp>
      <p:sp>
        <p:nvSpPr>
          <p:cNvPr id="6" name="Rectangle 5"/>
          <p:cNvSpPr/>
          <p:nvPr/>
        </p:nvSpPr>
        <p:spPr>
          <a:xfrm>
            <a:off x="864000" y="4140000"/>
            <a:ext cx="2160000" cy="216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000" y="4356000"/>
            <a:ext cx="9360000" cy="576000"/>
          </a:xfrm>
          <a:prstGeom prst="rect">
            <a:avLst/>
          </a:prstGeom>
          <a:noFill/>
        </p:spPr>
        <p:txBody>
          <a:bodyPr wrap="square" anchor="t" lIns="0" rIns="0" tIns="0" bIns="0">
            <a:spAutoFit/>
          </a:bodyPr>
          <a:lstStyle/>
          <a:p>
            <a:pPr algn="l">
              <a:lnSpc>
                <a:spcPct val="100000"/>
              </a:lnSpc>
              <a:spcAft>
                <a:spcPts val="400"/>
              </a:spcAft>
            </a:pPr>
            <a:r>
              <a:rPr sz="1200" b="0" i="0">
                <a:solidFill>
                  <a:srgbClr val="9AA2B2"/>
                </a:solidFill>
                <a:latin typeface="Courier New"/>
              </a:rPr>
              <a:t>M. VAN HOORDE · LYCÉE ISAAC DE L'ÉTOILE</a:t>
            </a:r>
          </a:p>
          <a:p>
            <a:pPr algn="l">
              <a:lnSpc>
                <a:spcPct val="100000"/>
              </a:lnSpc>
              <a:spcAft>
                <a:spcPts val="400"/>
              </a:spcAft>
            </a:pPr>
            <a:r>
              <a:rPr sz="1200" b="0" i="0">
                <a:solidFill>
                  <a:srgbClr val="9AA2B2"/>
                </a:solidFill>
                <a:latin typeface="Courier New"/>
              </a:rPr>
              <a:t>Seconde générale · année 2026 / 2027</a:t>
            </a:r>
          </a:p>
        </p:txBody>
      </p:sp>
      <p:sp>
        <p:nvSpPr>
          <p:cNvPr id="8" name="Rectangle 7"/>
          <p:cNvSpPr/>
          <p:nvPr/>
        </p:nvSpPr>
        <p:spPr>
          <a:xfrm>
            <a:off x="9468000" y="720000"/>
            <a:ext cx="2052000" cy="1188000"/>
          </a:xfrm>
          <a:prstGeom prst="rect">
            <a:avLst/>
          </a:prstGeom>
          <a:solidFill>
            <a:srgbClr val="FDFCF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o-isaac-lycee.png"/>
          <p:cNvPicPr>
            <a:picLocks noChangeAspect="1"/>
          </p:cNvPicPr>
          <p:nvPr/>
        </p:nvPicPr>
        <p:blipFill>
          <a:blip r:embed="rId2"/>
          <a:stretch>
            <a:fillRect/>
          </a:stretch>
        </p:blipFill>
        <p:spPr>
          <a:xfrm>
            <a:off x="9684000" y="846000"/>
            <a:ext cx="1620000" cy="911536"/>
          </a:xfrm>
          <a:prstGeom prst="rect">
            <a:avLst/>
          </a:prstGeom>
        </p:spPr>
      </p:pic>
      <p:sp>
        <p:nvSpPr>
          <p:cNvPr id="10" name="Oval 9"/>
          <p:cNvSpPr/>
          <p:nvPr/>
        </p:nvSpPr>
        <p:spPr>
          <a:xfrm>
            <a:off x="864000" y="5616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1" name="TextBox 10"/>
          <p:cNvSpPr txBox="1"/>
          <p:nvPr/>
        </p:nvSpPr>
        <p:spPr>
          <a:xfrm>
            <a:off x="1278000" y="5670000"/>
            <a:ext cx="8640000" cy="251999"/>
          </a:xfrm>
          <a:prstGeom prst="rect">
            <a:avLst/>
          </a:prstGeom>
          <a:noFill/>
        </p:spPr>
        <p:txBody>
          <a:bodyPr wrap="square" anchor="t" lIns="0" rIns="0" tIns="0" bIns="0">
            <a:spAutoFit/>
          </a:bodyPr>
          <a:lstStyle/>
          <a:p>
            <a:pPr algn="l">
              <a:lnSpc>
                <a:spcPct val="100000"/>
              </a:lnSpc>
            </a:pPr>
            <a:r>
              <a:rPr sz="1200" b="0" i="0">
                <a:solidFill>
                  <a:srgbClr val="B28A1D"/>
                </a:solidFill>
                <a:latin typeface="Courier New"/>
              </a:rPr>
              <a:t>ce picto marque ce qui est à écrire sur ta fiche de cours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858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4000" y="1080000"/>
            <a:ext cx="4320000" cy="1512000"/>
          </a:xfrm>
          <a:prstGeom prst="rect">
            <a:avLst/>
          </a:prstGeom>
          <a:noFill/>
        </p:spPr>
        <p:txBody>
          <a:bodyPr wrap="square" anchor="t" lIns="0" rIns="0" tIns="0" bIns="0">
            <a:spAutoFit/>
          </a:bodyPr>
          <a:lstStyle/>
          <a:p>
            <a:pPr algn="l">
              <a:lnSpc>
                <a:spcPct val="100000"/>
              </a:lnSpc>
            </a:pPr>
            <a:r>
              <a:rPr sz="10400" b="1" i="0">
                <a:solidFill>
                  <a:srgbClr val="3A445C"/>
                </a:solidFill>
                <a:latin typeface="Cambria"/>
              </a:rPr>
              <a:t>I</a:t>
            </a:r>
          </a:p>
        </p:txBody>
      </p:sp>
      <p:sp>
        <p:nvSpPr>
          <p:cNvPr id="4" name="TextBox 3"/>
          <p:cNvSpPr txBox="1"/>
          <p:nvPr/>
        </p:nvSpPr>
        <p:spPr>
          <a:xfrm>
            <a:off x="864000" y="2700000"/>
            <a:ext cx="10080000" cy="720000"/>
          </a:xfrm>
          <a:prstGeom prst="rect">
            <a:avLst/>
          </a:prstGeom>
          <a:noFill/>
        </p:spPr>
        <p:txBody>
          <a:bodyPr wrap="square" anchor="t" lIns="0" rIns="0" tIns="0" bIns="0">
            <a:spAutoFit/>
          </a:bodyPr>
          <a:lstStyle/>
          <a:p>
            <a:pPr algn="l">
              <a:lnSpc>
                <a:spcPct val="100000"/>
              </a:lnSpc>
            </a:pPr>
            <a:r>
              <a:rPr sz="3600" b="1" i="0">
                <a:solidFill>
                  <a:srgbClr val="FDFCF8"/>
                </a:solidFill>
                <a:latin typeface="Cambria"/>
              </a:rPr>
              <a:t>Introduction</a:t>
            </a:r>
          </a:p>
        </p:txBody>
      </p:sp>
      <p:sp>
        <p:nvSpPr>
          <p:cNvPr id="5" name="Rectangle 4"/>
          <p:cNvSpPr/>
          <p:nvPr/>
        </p:nvSpPr>
        <p:spPr>
          <a:xfrm>
            <a:off x="864000" y="3348000"/>
            <a:ext cx="1800000" cy="216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6000" y="3636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A — Transformation physique ou chimique ?</a:t>
            </a:r>
          </a:p>
        </p:txBody>
      </p:sp>
      <p:sp>
        <p:nvSpPr>
          <p:cNvPr id="7" name="TextBox 6"/>
          <p:cNvSpPr txBox="1"/>
          <p:nvPr/>
        </p:nvSpPr>
        <p:spPr>
          <a:xfrm>
            <a:off x="936000" y="3977999"/>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B — Effet thermique des transformations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Introduction</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A — Transformation physique ou chimique ?</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3</a:t>
            </a:r>
          </a:p>
        </p:txBody>
      </p:sp>
      <p:sp>
        <p:nvSpPr>
          <p:cNvPr id="12" name="Rectangle 11"/>
          <p:cNvSpPr/>
          <p:nvPr/>
        </p:nvSpPr>
        <p:spPr>
          <a:xfrm>
            <a:off x="324000" y="936000"/>
            <a:ext cx="5616000" cy="1508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936000"/>
            <a:ext cx="46800" cy="15084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036800"/>
            <a:ext cx="525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TRANSFORMATION PHYSIQUE</a:t>
            </a:r>
          </a:p>
        </p:txBody>
      </p:sp>
      <p:sp>
        <p:nvSpPr>
          <p:cNvPr id="15" name="TextBox 14"/>
          <p:cNvSpPr txBox="1"/>
          <p:nvPr/>
        </p:nvSpPr>
        <p:spPr>
          <a:xfrm>
            <a:off x="486000" y="1278000"/>
            <a:ext cx="5292000" cy="10584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Une transformation physique est une transformation au cours de laquelle la matière change d'apparence, de forme, d'état mais les espèces chimiques (molécules) ne changent pas.</a:t>
            </a:r>
          </a:p>
        </p:txBody>
      </p:sp>
      <p:sp>
        <p:nvSpPr>
          <p:cNvPr id="16" name="TextBox 15"/>
          <p:cNvSpPr txBox="1"/>
          <p:nvPr/>
        </p:nvSpPr>
        <p:spPr>
          <a:xfrm>
            <a:off x="4067999" y="1065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5562000" y="1008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8" name="Rectangle 17"/>
          <p:cNvSpPr/>
          <p:nvPr/>
        </p:nvSpPr>
        <p:spPr>
          <a:xfrm>
            <a:off x="6263999" y="936000"/>
            <a:ext cx="5616000" cy="1278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63999" y="936000"/>
            <a:ext cx="46800" cy="1278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5999" y="1036800"/>
            <a:ext cx="525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TRANSFORMATION CHIMIQUE</a:t>
            </a:r>
          </a:p>
        </p:txBody>
      </p:sp>
      <p:sp>
        <p:nvSpPr>
          <p:cNvPr id="21" name="TextBox 20"/>
          <p:cNvSpPr txBox="1"/>
          <p:nvPr/>
        </p:nvSpPr>
        <p:spPr>
          <a:xfrm>
            <a:off x="6425999" y="1278000"/>
            <a:ext cx="5292000" cy="827999"/>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Une transformation chimique est une transformation au cours de laquelle certaines substances disparaissent et d'autres apparaissent. Les espèces chimiques sont modifiées.</a:t>
            </a:r>
          </a:p>
        </p:txBody>
      </p:sp>
      <p:sp>
        <p:nvSpPr>
          <p:cNvPr id="22" name="TextBox 21"/>
          <p:cNvSpPr txBox="1"/>
          <p:nvPr/>
        </p:nvSpPr>
        <p:spPr>
          <a:xfrm>
            <a:off x="10007999" y="1065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3" name="Oval 22"/>
          <p:cNvSpPr/>
          <p:nvPr/>
        </p:nvSpPr>
        <p:spPr>
          <a:xfrm>
            <a:off x="11502000" y="1008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4" name="Rectangle 23"/>
          <p:cNvSpPr/>
          <p:nvPr/>
        </p:nvSpPr>
        <p:spPr>
          <a:xfrm>
            <a:off x="324000" y="2642400"/>
            <a:ext cx="11556000" cy="17352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24000" y="2642400"/>
            <a:ext cx="46800" cy="17352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000" y="2743200"/>
            <a:ext cx="1119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 — TRANSFORMATION PHYSIQUE OU CHIMIQUE ?</a:t>
            </a:r>
          </a:p>
        </p:txBody>
      </p:sp>
      <p:sp>
        <p:nvSpPr>
          <p:cNvPr id="27" name="TextBox 26"/>
          <p:cNvSpPr txBox="1"/>
          <p:nvPr/>
        </p:nvSpPr>
        <p:spPr>
          <a:xfrm>
            <a:off x="486000" y="2984399"/>
            <a:ext cx="11232000" cy="12852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a) obtention d'une flamme (briquet)   ·   b) formation de la rosée   ·   c) dissolution de sucre dans du café</a:t>
            </a:r>
          </a:p>
          <a:p>
            <a:pPr algn="l">
              <a:lnSpc>
                <a:spcPct val="115000"/>
              </a:lnSpc>
              <a:spcAft>
                <a:spcPts val="600"/>
              </a:spcAft>
            </a:pPr>
            <a:r>
              <a:rPr sz="1500" b="0" i="0">
                <a:solidFill>
                  <a:srgbClr val="141A26"/>
                </a:solidFill>
                <a:latin typeface="Calibri"/>
              </a:rPr>
              <a:t>d) récolte de sel dans un marais salant   ·   e) infusion de thé   ·   f) formation de vin à partir de jus de raisin</a:t>
            </a:r>
          </a:p>
          <a:p>
            <a:pPr algn="l">
              <a:lnSpc>
                <a:spcPct val="115000"/>
              </a:lnSpc>
              <a:spcAft>
                <a:spcPts val="600"/>
              </a:spcAft>
            </a:pPr>
            <a:r>
              <a:rPr sz="1500" b="0" i="0">
                <a:solidFill>
                  <a:srgbClr val="141A26"/>
                </a:solidFill>
                <a:latin typeface="Calibri"/>
              </a:rPr>
              <a:t>g) détartrage de la bouilloire   ·   h) obtention de neige avec un canon à neige   ·   i) feux d'artifice</a:t>
            </a:r>
          </a:p>
          <a:p>
            <a:pPr algn="l">
              <a:lnSpc>
                <a:spcPct val="115000"/>
              </a:lnSpc>
              <a:spcAft>
                <a:spcPts val="600"/>
              </a:spcAft>
            </a:pPr>
            <a:r>
              <a:rPr sz="1500" b="0" i="1">
                <a:solidFill>
                  <a:srgbClr val="141A26"/>
                </a:solidFill>
                <a:latin typeface="Calibri"/>
              </a:rPr>
              <a:t>Classer chaque situation : transformation physique ou transformation chimique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00"/>
                                        <p:tgtEl>
                                          <p:spTgt spid="2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Introduction</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A — Deux exemples</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4</a:t>
            </a:r>
          </a:p>
        </p:txBody>
      </p:sp>
      <p:sp>
        <p:nvSpPr>
          <p:cNvPr id="12" name="TextBox 11"/>
          <p:cNvSpPr txBox="1"/>
          <p:nvPr/>
        </p:nvSpPr>
        <p:spPr>
          <a:xfrm>
            <a:off x="324000" y="936000"/>
            <a:ext cx="5616000" cy="216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EXEMPLE — TRANSFORMATION PHYSIQUE</a:t>
            </a:r>
          </a:p>
        </p:txBody>
      </p:sp>
      <p:pic>
        <p:nvPicPr>
          <p:cNvPr id="13" name="Picture 12" descr="t1c2-comete-holmes.jpg"/>
          <p:cNvPicPr>
            <a:picLocks noChangeAspect="1"/>
          </p:cNvPicPr>
          <p:nvPr/>
        </p:nvPicPr>
        <p:blipFill>
          <a:blip r:embed="rId2"/>
          <a:stretch>
            <a:fillRect/>
          </a:stretch>
        </p:blipFill>
        <p:spPr>
          <a:xfrm>
            <a:off x="324000" y="1224000"/>
            <a:ext cx="4541537" cy="2951999"/>
          </a:xfrm>
          <a:prstGeom prst="rect">
            <a:avLst/>
          </a:prstGeom>
        </p:spPr>
      </p:pic>
      <p:sp>
        <p:nvSpPr>
          <p:cNvPr id="14" name="TextBox 13"/>
          <p:cNvSpPr txBox="1"/>
          <p:nvPr/>
        </p:nvSpPr>
        <p:spPr>
          <a:xfrm>
            <a:off x="324000" y="4320000"/>
            <a:ext cx="5616000" cy="1080000"/>
          </a:xfrm>
          <a:prstGeom prst="rect">
            <a:avLst/>
          </a:prstGeom>
          <a:noFill/>
        </p:spPr>
        <p:txBody>
          <a:bodyPr wrap="square" anchor="t" lIns="0" rIns="0" tIns="0" bIns="0">
            <a:spAutoFit/>
          </a:bodyPr>
          <a:lstStyle/>
          <a:p>
            <a:pPr algn="l">
              <a:lnSpc>
                <a:spcPct val="120000"/>
              </a:lnSpc>
            </a:pPr>
            <a:r>
              <a:rPr sz="1100" b="0" i="0">
                <a:solidFill>
                  <a:srgbClr val="6B6F7A"/>
                </a:solidFill>
                <a:latin typeface="Courier New"/>
              </a:rPr>
              <a:t>Image 1 — À l'approche du Soleil, les glaces du noyau d'une comète se subliment et forment sa queue. Les molécules ne sont pas modifiées.</a:t>
            </a:r>
          </a:p>
        </p:txBody>
      </p:sp>
      <p:sp>
        <p:nvSpPr>
          <p:cNvPr id="15" name="TextBox 14"/>
          <p:cNvSpPr txBox="1"/>
          <p:nvPr/>
        </p:nvSpPr>
        <p:spPr>
          <a:xfrm>
            <a:off x="6263999" y="936000"/>
            <a:ext cx="5616000" cy="216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EXEMPLE — TRANSFORMATION CHIMIQUE</a:t>
            </a:r>
          </a:p>
        </p:txBody>
      </p:sp>
      <p:pic>
        <p:nvPicPr>
          <p:cNvPr id="16" name="Picture 15" descr="t1c2-feuille-photosynthese.jpg"/>
          <p:cNvPicPr>
            <a:picLocks noChangeAspect="1"/>
          </p:cNvPicPr>
          <p:nvPr/>
        </p:nvPicPr>
        <p:blipFill>
          <a:blip r:embed="rId3"/>
          <a:stretch>
            <a:fillRect/>
          </a:stretch>
        </p:blipFill>
        <p:spPr>
          <a:xfrm>
            <a:off x="6263999" y="1224000"/>
            <a:ext cx="3935999" cy="2951999"/>
          </a:xfrm>
          <a:prstGeom prst="rect">
            <a:avLst/>
          </a:prstGeom>
        </p:spPr>
      </p:pic>
      <p:sp>
        <p:nvSpPr>
          <p:cNvPr id="17" name="TextBox 16"/>
          <p:cNvSpPr txBox="1"/>
          <p:nvPr/>
        </p:nvSpPr>
        <p:spPr>
          <a:xfrm>
            <a:off x="6263999" y="4320000"/>
            <a:ext cx="5616000" cy="1080000"/>
          </a:xfrm>
          <a:prstGeom prst="rect">
            <a:avLst/>
          </a:prstGeom>
          <a:noFill/>
        </p:spPr>
        <p:txBody>
          <a:bodyPr wrap="square" anchor="t" lIns="0" rIns="0" tIns="0" bIns="0">
            <a:spAutoFit/>
          </a:bodyPr>
          <a:lstStyle/>
          <a:p>
            <a:pPr algn="l">
              <a:lnSpc>
                <a:spcPct val="120000"/>
              </a:lnSpc>
            </a:pPr>
            <a:r>
              <a:rPr sz="1100" b="0" i="0">
                <a:solidFill>
                  <a:srgbClr val="6B6F7A"/>
                </a:solidFill>
                <a:latin typeface="Courier New"/>
              </a:rPr>
              <a:t>Image 2 — Par photosynthèse, la plante fabrique du glucose à partir d'eau et de dioxyde de carbone. Des espèces disparaissent, d'autres apparaissent.</a:t>
            </a:r>
          </a:p>
        </p:txBody>
      </p:sp>
      <p:sp>
        <p:nvSpPr>
          <p:cNvPr id="18" name="TextBox 17"/>
          <p:cNvSpPr txBox="1"/>
          <p:nvPr/>
        </p:nvSpPr>
        <p:spPr>
          <a:xfrm>
            <a:off x="324000" y="5580000"/>
            <a:ext cx="5616000" cy="432000"/>
          </a:xfrm>
          <a:prstGeom prst="rect">
            <a:avLst/>
          </a:prstGeom>
          <a:noFill/>
        </p:spPr>
        <p:txBody>
          <a:bodyPr wrap="square" anchor="t" lIns="0" rIns="0" tIns="0" bIns="0">
            <a:spAutoFit/>
          </a:bodyPr>
          <a:lstStyle/>
          <a:p>
            <a:pPr algn="ctr">
              <a:lnSpc>
                <a:spcPct val="100000"/>
              </a:lnSpc>
            </a:pPr>
            <a:r>
              <a:rPr sz="1900" b="1" i="0">
                <a:solidFill>
                  <a:srgbClr val="141A26"/>
                </a:solidFill>
                <a:latin typeface="Cambria"/>
              </a:rPr>
              <a:t>H₂O</a:t>
            </a:r>
            <a:r>
              <a:rPr sz="1900" b="1" i="0" baseline="-25000">
                <a:solidFill>
                  <a:srgbClr val="141A26"/>
                </a:solidFill>
                <a:latin typeface="Cambria"/>
              </a:rPr>
              <a:t>(s)</a:t>
            </a:r>
            <a:r>
              <a:rPr sz="1900" b="1" i="0">
                <a:solidFill>
                  <a:srgbClr val="141A26"/>
                </a:solidFill>
                <a:latin typeface="Cambria"/>
              </a:rPr>
              <a:t>   →   </a:t>
            </a:r>
            <a:r>
              <a:rPr sz="1900" b="1" i="0">
                <a:solidFill>
                  <a:srgbClr val="141A26"/>
                </a:solidFill>
                <a:latin typeface="Cambria"/>
              </a:rPr>
              <a:t>H₂O</a:t>
            </a:r>
            <a:r>
              <a:rPr sz="1900" b="1" i="0" baseline="-25000">
                <a:solidFill>
                  <a:srgbClr val="141A26"/>
                </a:solidFill>
                <a:latin typeface="Cambria"/>
              </a:rPr>
              <a:t>(g)</a:t>
            </a:r>
          </a:p>
        </p:txBody>
      </p:sp>
      <p:sp>
        <p:nvSpPr>
          <p:cNvPr id="19" name="TextBox 18"/>
          <p:cNvSpPr txBox="1"/>
          <p:nvPr/>
        </p:nvSpPr>
        <p:spPr>
          <a:xfrm>
            <a:off x="6263999" y="5580000"/>
            <a:ext cx="5616000" cy="432000"/>
          </a:xfrm>
          <a:prstGeom prst="rect">
            <a:avLst/>
          </a:prstGeom>
          <a:noFill/>
        </p:spPr>
        <p:txBody>
          <a:bodyPr wrap="square" anchor="t" lIns="0" rIns="0" tIns="0" bIns="0">
            <a:spAutoFit/>
          </a:bodyPr>
          <a:lstStyle/>
          <a:p>
            <a:pPr algn="ctr">
              <a:lnSpc>
                <a:spcPct val="100000"/>
              </a:lnSpc>
            </a:pPr>
            <a:r>
              <a:rPr sz="1900" b="1" i="0">
                <a:solidFill>
                  <a:srgbClr val="141A26"/>
                </a:solidFill>
                <a:latin typeface="Cambria"/>
              </a:rPr>
              <a:t>6 CO₂  +  6 H₂O   →   C₆H₁₂O₆  +  6 O₂</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Introduction</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B — Effet thermique des transformations</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5</a:t>
            </a:r>
          </a:p>
        </p:txBody>
      </p:sp>
      <p:pic>
        <p:nvPicPr>
          <p:cNvPr id="12" name="Picture 11" descr="site-t1c2f3.png"/>
          <p:cNvPicPr>
            <a:picLocks noChangeAspect="1"/>
          </p:cNvPicPr>
          <p:nvPr/>
        </p:nvPicPr>
        <p:blipFill>
          <a:blip r:embed="rId2"/>
          <a:stretch>
            <a:fillRect/>
          </a:stretch>
        </p:blipFill>
        <p:spPr>
          <a:xfrm>
            <a:off x="6696000" y="1080000"/>
            <a:ext cx="4896000" cy="2681142"/>
          </a:xfrm>
          <a:prstGeom prst="rect">
            <a:avLst/>
          </a:prstGeom>
        </p:spPr>
      </p:pic>
      <p:sp>
        <p:nvSpPr>
          <p:cNvPr id="13" name="TextBox 12"/>
          <p:cNvSpPr txBox="1"/>
          <p:nvPr/>
        </p:nvSpPr>
        <p:spPr>
          <a:xfrm>
            <a:off x="6696000" y="3825942"/>
            <a:ext cx="4896000" cy="432000"/>
          </a:xfrm>
          <a:prstGeom prst="rect">
            <a:avLst/>
          </a:prstGeom>
          <a:noFill/>
        </p:spPr>
        <p:txBody>
          <a:bodyPr wrap="square" lIns="0" rIns="0" tIns="0" bIns="0">
            <a:spAutoFit/>
          </a:bodyPr>
          <a:lstStyle/>
          <a:p>
            <a:pPr>
              <a:lnSpc>
                <a:spcPct val="110000"/>
              </a:lnSpc>
            </a:pPr>
            <a:r>
              <a:rPr sz="1000" b="0" i="0">
                <a:solidFill>
                  <a:srgbClr val="6B6F7A"/>
                </a:solidFill>
                <a:latin typeface="Courier New"/>
              </a:rPr>
              <a:t>Image 3 — Sens du transfert de chaleur entre le système et le milieu extérieur.</a:t>
            </a:r>
          </a:p>
        </p:txBody>
      </p:sp>
      <p:sp>
        <p:nvSpPr>
          <p:cNvPr id="14" name="TextBox 13"/>
          <p:cNvSpPr txBox="1"/>
          <p:nvPr/>
        </p:nvSpPr>
        <p:spPr>
          <a:xfrm>
            <a:off x="9810000" y="885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5" name="Oval 14"/>
          <p:cNvSpPr/>
          <p:nvPr/>
        </p:nvSpPr>
        <p:spPr>
          <a:xfrm>
            <a:off x="11304000" y="827999"/>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6" name="Rectangle 15"/>
          <p:cNvSpPr/>
          <p:nvPr/>
        </p:nvSpPr>
        <p:spPr>
          <a:xfrm>
            <a:off x="324000" y="1080000"/>
            <a:ext cx="6120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24000" y="1080000"/>
            <a:ext cx="46800" cy="1044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1180800"/>
            <a:ext cx="5760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RÉACTION EXOTHERMIQUE</a:t>
            </a:r>
          </a:p>
        </p:txBody>
      </p:sp>
      <p:sp>
        <p:nvSpPr>
          <p:cNvPr id="19" name="TextBox 18"/>
          <p:cNvSpPr txBox="1"/>
          <p:nvPr/>
        </p:nvSpPr>
        <p:spPr>
          <a:xfrm>
            <a:off x="486000" y="1422000"/>
            <a:ext cx="5796000" cy="594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Une transformation qui libère de l'énergie sous forme de chaleur est appelée réaction exothermique.</a:t>
            </a:r>
          </a:p>
        </p:txBody>
      </p:sp>
      <p:sp>
        <p:nvSpPr>
          <p:cNvPr id="20" name="TextBox 19"/>
          <p:cNvSpPr txBox="1"/>
          <p:nvPr/>
        </p:nvSpPr>
        <p:spPr>
          <a:xfrm>
            <a:off x="4571999" y="1209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1" name="Oval 20"/>
          <p:cNvSpPr/>
          <p:nvPr/>
        </p:nvSpPr>
        <p:spPr>
          <a:xfrm>
            <a:off x="6065999" y="1152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2" name="Rectangle 21"/>
          <p:cNvSpPr/>
          <p:nvPr/>
        </p:nvSpPr>
        <p:spPr>
          <a:xfrm>
            <a:off x="324000" y="2322000"/>
            <a:ext cx="6120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24000" y="2322000"/>
            <a:ext cx="46800" cy="1044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6000" y="2422800"/>
            <a:ext cx="5760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RÉACTION ENDOTHERMIQUE</a:t>
            </a:r>
          </a:p>
        </p:txBody>
      </p:sp>
      <p:sp>
        <p:nvSpPr>
          <p:cNvPr id="25" name="TextBox 24"/>
          <p:cNvSpPr txBox="1"/>
          <p:nvPr/>
        </p:nvSpPr>
        <p:spPr>
          <a:xfrm>
            <a:off x="486000" y="2664000"/>
            <a:ext cx="5796000" cy="594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Une transformation qui prend de la chaleur au milieu extérieur est appelée réaction endothermique.</a:t>
            </a:r>
          </a:p>
        </p:txBody>
      </p:sp>
      <p:sp>
        <p:nvSpPr>
          <p:cNvPr id="26" name="TextBox 25"/>
          <p:cNvSpPr txBox="1"/>
          <p:nvPr/>
        </p:nvSpPr>
        <p:spPr>
          <a:xfrm>
            <a:off x="4571999" y="2451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7" name="Oval 26"/>
          <p:cNvSpPr/>
          <p:nvPr/>
        </p:nvSpPr>
        <p:spPr>
          <a:xfrm>
            <a:off x="6065999" y="2394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8" name="Rectangle 27"/>
          <p:cNvSpPr/>
          <p:nvPr/>
        </p:nvSpPr>
        <p:spPr>
          <a:xfrm>
            <a:off x="324000" y="4031999"/>
            <a:ext cx="11160000" cy="1458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24000" y="4031999"/>
            <a:ext cx="46800" cy="1458000"/>
          </a:xfrm>
          <a:prstGeom prst="rect">
            <a:avLst/>
          </a:prstGeom>
          <a:solidFill>
            <a:srgbClr val="4C8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6000" y="4132799"/>
            <a:ext cx="10800000" cy="180000"/>
          </a:xfrm>
          <a:prstGeom prst="rect">
            <a:avLst/>
          </a:prstGeom>
          <a:noFill/>
        </p:spPr>
        <p:txBody>
          <a:bodyPr wrap="square" anchor="t" lIns="0" rIns="0" tIns="0" bIns="0">
            <a:spAutoFit/>
          </a:bodyPr>
          <a:lstStyle/>
          <a:p>
            <a:pPr algn="l">
              <a:lnSpc>
                <a:spcPct val="100000"/>
              </a:lnSpc>
            </a:pPr>
            <a:r>
              <a:rPr sz="1000" b="1" i="0">
                <a:solidFill>
                  <a:srgbClr val="4C8A58"/>
                </a:solidFill>
                <a:latin typeface="Courier New"/>
              </a:rPr>
              <a:t>EXEMPLE — COMBUSTION D'UNE BOUGIE</a:t>
            </a:r>
          </a:p>
        </p:txBody>
      </p:sp>
      <p:sp>
        <p:nvSpPr>
          <p:cNvPr id="31" name="TextBox 30"/>
          <p:cNvSpPr txBox="1"/>
          <p:nvPr/>
        </p:nvSpPr>
        <p:spPr>
          <a:xfrm>
            <a:off x="486000" y="4373999"/>
            <a:ext cx="10836000" cy="1007999"/>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La paraffine d'une bougie, C₁₈H₃₆O₂, brûle dans le dioxygène de l'air et forme du dioxyde de carbone et de l'eau :</a:t>
            </a:r>
          </a:p>
          <a:p>
            <a:pPr algn="l">
              <a:lnSpc>
                <a:spcPct val="115000"/>
              </a:lnSpc>
              <a:spcAft>
                <a:spcPts val="600"/>
              </a:spcAft>
            </a:pPr>
            <a:r>
              <a:rPr sz="1700" b="1" i="0">
                <a:solidFill>
                  <a:srgbClr val="141A26"/>
                </a:solidFill>
                <a:latin typeface="Cambria"/>
              </a:rPr>
              <a:t>C₁₈H₃₆O₂ (s)  +  26 O₂ (g)   →   18 CO₂ (g)  +  26 H₂O (l)</a:t>
            </a:r>
          </a:p>
          <a:p>
            <a:pPr algn="l">
              <a:lnSpc>
                <a:spcPct val="115000"/>
              </a:lnSpc>
              <a:spcAft>
                <a:spcPts val="600"/>
              </a:spcAft>
            </a:pPr>
            <a:r>
              <a:rPr sz="1500" b="0" i="0">
                <a:solidFill>
                  <a:srgbClr val="141A26"/>
                </a:solidFill>
                <a:latin typeface="Calibri"/>
              </a:rPr>
              <a:t>Cette réaction produit de la chaleur : elle est exothermique.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00"/>
                                        <p:tgtEl>
                                          <p:spTgt spid="2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00"/>
                                        <p:tgtEl>
                                          <p:spTgt spid="2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858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4000" y="1080000"/>
            <a:ext cx="4320000" cy="1512000"/>
          </a:xfrm>
          <a:prstGeom prst="rect">
            <a:avLst/>
          </a:prstGeom>
          <a:noFill/>
        </p:spPr>
        <p:txBody>
          <a:bodyPr wrap="square" anchor="t" lIns="0" rIns="0" tIns="0" bIns="0">
            <a:spAutoFit/>
          </a:bodyPr>
          <a:lstStyle/>
          <a:p>
            <a:pPr algn="l">
              <a:lnSpc>
                <a:spcPct val="100000"/>
              </a:lnSpc>
            </a:pPr>
            <a:r>
              <a:rPr sz="10400" b="1" i="0">
                <a:solidFill>
                  <a:srgbClr val="3A445C"/>
                </a:solidFill>
                <a:latin typeface="Cambria"/>
              </a:rPr>
              <a:t>II</a:t>
            </a:r>
          </a:p>
        </p:txBody>
      </p:sp>
      <p:sp>
        <p:nvSpPr>
          <p:cNvPr id="4" name="TextBox 3"/>
          <p:cNvSpPr txBox="1"/>
          <p:nvPr/>
        </p:nvSpPr>
        <p:spPr>
          <a:xfrm>
            <a:off x="864000" y="2700000"/>
            <a:ext cx="10080000" cy="720000"/>
          </a:xfrm>
          <a:prstGeom prst="rect">
            <a:avLst/>
          </a:prstGeom>
          <a:noFill/>
        </p:spPr>
        <p:txBody>
          <a:bodyPr wrap="square" anchor="t" lIns="0" rIns="0" tIns="0" bIns="0">
            <a:spAutoFit/>
          </a:bodyPr>
          <a:lstStyle/>
          <a:p>
            <a:pPr algn="l">
              <a:lnSpc>
                <a:spcPct val="100000"/>
              </a:lnSpc>
            </a:pPr>
            <a:r>
              <a:rPr sz="3600" b="1" i="0">
                <a:solidFill>
                  <a:srgbClr val="FDFCF8"/>
                </a:solidFill>
                <a:latin typeface="Cambria"/>
              </a:rPr>
              <a:t>Transformations physiques</a:t>
            </a:r>
          </a:p>
        </p:txBody>
      </p:sp>
      <p:sp>
        <p:nvSpPr>
          <p:cNvPr id="5" name="Rectangle 4"/>
          <p:cNvSpPr/>
          <p:nvPr/>
        </p:nvSpPr>
        <p:spPr>
          <a:xfrm>
            <a:off x="864000" y="3348000"/>
            <a:ext cx="1800000" cy="216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6000" y="3636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A — États de la matière</a:t>
            </a:r>
          </a:p>
        </p:txBody>
      </p:sp>
      <p:sp>
        <p:nvSpPr>
          <p:cNvPr id="7" name="TextBox 6"/>
          <p:cNvSpPr txBox="1"/>
          <p:nvPr/>
        </p:nvSpPr>
        <p:spPr>
          <a:xfrm>
            <a:off x="936000" y="3977999"/>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B — Changement d'état</a:t>
            </a:r>
          </a:p>
        </p:txBody>
      </p:sp>
      <p:sp>
        <p:nvSpPr>
          <p:cNvPr id="8" name="TextBox 7"/>
          <p:cNvSpPr txBox="1"/>
          <p:nvPr/>
        </p:nvSpPr>
        <p:spPr>
          <a:xfrm>
            <a:off x="936000" y="4320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C — Équation d'un changement d'état</a:t>
            </a:r>
          </a:p>
        </p:txBody>
      </p:sp>
      <p:sp>
        <p:nvSpPr>
          <p:cNvPr id="9" name="TextBox 8"/>
          <p:cNvSpPr txBox="1"/>
          <p:nvPr/>
        </p:nvSpPr>
        <p:spPr>
          <a:xfrm>
            <a:off x="936000" y="4662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D — Énergie de changement d'état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physiques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A — États de la matière</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7</a:t>
            </a:r>
          </a:p>
        </p:txBody>
      </p:sp>
      <p:pic>
        <p:nvPicPr>
          <p:cNvPr id="12" name="Picture 11" descr="site-t1c2f4.png"/>
          <p:cNvPicPr>
            <a:picLocks noChangeAspect="1"/>
          </p:cNvPicPr>
          <p:nvPr/>
        </p:nvPicPr>
        <p:blipFill>
          <a:blip r:embed="rId2"/>
          <a:stretch>
            <a:fillRect/>
          </a:stretch>
        </p:blipFill>
        <p:spPr>
          <a:xfrm>
            <a:off x="324000" y="1007999"/>
            <a:ext cx="7200000" cy="2181818"/>
          </a:xfrm>
          <a:prstGeom prst="rect">
            <a:avLst/>
          </a:prstGeom>
        </p:spPr>
      </p:pic>
      <p:sp>
        <p:nvSpPr>
          <p:cNvPr id="13" name="TextBox 12"/>
          <p:cNvSpPr txBox="1"/>
          <p:nvPr/>
        </p:nvSpPr>
        <p:spPr>
          <a:xfrm>
            <a:off x="324000" y="3254617"/>
            <a:ext cx="7200000" cy="432000"/>
          </a:xfrm>
          <a:prstGeom prst="rect">
            <a:avLst/>
          </a:prstGeom>
          <a:noFill/>
        </p:spPr>
        <p:txBody>
          <a:bodyPr wrap="square" lIns="0" rIns="0" tIns="0" bIns="0">
            <a:spAutoFit/>
          </a:bodyPr>
          <a:lstStyle/>
          <a:p>
            <a:pPr>
              <a:lnSpc>
                <a:spcPct val="110000"/>
              </a:lnSpc>
            </a:pPr>
            <a:r>
              <a:rPr sz="1000" b="0" i="0">
                <a:solidFill>
                  <a:srgbClr val="6B6F7A"/>
                </a:solidFill>
                <a:latin typeface="Courier New"/>
              </a:rPr>
              <a:t>Image 4 — Traits pleins : liaisons fortes. Traits pointillés : liaisons faibles. Aucun trait : entités libres, en agitation.</a:t>
            </a:r>
          </a:p>
        </p:txBody>
      </p:sp>
      <p:sp>
        <p:nvSpPr>
          <p:cNvPr id="14" name="TextBox 13"/>
          <p:cNvSpPr txBox="1"/>
          <p:nvPr/>
        </p:nvSpPr>
        <p:spPr>
          <a:xfrm>
            <a:off x="5562000" y="885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5" name="Oval 14"/>
          <p:cNvSpPr/>
          <p:nvPr/>
        </p:nvSpPr>
        <p:spPr>
          <a:xfrm>
            <a:off x="7056000" y="827999"/>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6" name="Rectangle 15"/>
          <p:cNvSpPr/>
          <p:nvPr/>
        </p:nvSpPr>
        <p:spPr>
          <a:xfrm>
            <a:off x="7848000" y="1007999"/>
            <a:ext cx="4031999" cy="2358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848000" y="1007999"/>
            <a:ext cx="46800" cy="2358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10000" y="1108800"/>
            <a:ext cx="3671999" cy="180000"/>
          </a:xfrm>
          <a:prstGeom prst="rect">
            <a:avLst/>
          </a:prstGeom>
          <a:noFill/>
        </p:spPr>
        <p:txBody>
          <a:bodyPr wrap="square" anchor="t" lIns="0" rIns="0" tIns="0" bIns="0">
            <a:spAutoFit/>
          </a:bodyPr>
          <a:lstStyle/>
          <a:p>
            <a:pPr algn="l">
              <a:lnSpc>
                <a:spcPct val="100000"/>
              </a:lnSpc>
            </a:pPr>
            <a:r>
              <a:rPr sz="1000" b="1" i="0">
                <a:solidFill>
                  <a:srgbClr val="4A3F9E"/>
                </a:solidFill>
                <a:latin typeface="Courier New"/>
              </a:rPr>
              <a:t>PROPRIÉTÉ — LES TROIS ÉTATS</a:t>
            </a:r>
          </a:p>
        </p:txBody>
      </p:sp>
      <p:sp>
        <p:nvSpPr>
          <p:cNvPr id="19" name="TextBox 18"/>
          <p:cNvSpPr txBox="1"/>
          <p:nvPr/>
        </p:nvSpPr>
        <p:spPr>
          <a:xfrm>
            <a:off x="8010000" y="1350000"/>
            <a:ext cx="3707999" cy="1908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Gazeux (g) — entités agitées, espacées, libres, qui s'entrechoquent sans cesse.</a:t>
            </a:r>
          </a:p>
          <a:p>
            <a:pPr algn="l">
              <a:lnSpc>
                <a:spcPct val="115000"/>
              </a:lnSpc>
              <a:spcAft>
                <a:spcPts val="600"/>
              </a:spcAft>
            </a:pPr>
            <a:r>
              <a:rPr sz="1500" b="0" i="0">
                <a:solidFill>
                  <a:srgbClr val="141A26"/>
                </a:solidFill>
                <a:latin typeface="Calibri"/>
              </a:rPr>
              <a:t>Liquide (l) — entités mobiles, proches, peu liées ou par des liaisons faibles.</a:t>
            </a:r>
          </a:p>
          <a:p>
            <a:pPr algn="l">
              <a:lnSpc>
                <a:spcPct val="115000"/>
              </a:lnSpc>
              <a:spcAft>
                <a:spcPts val="600"/>
              </a:spcAft>
            </a:pPr>
            <a:r>
              <a:rPr sz="1500" b="0" i="0">
                <a:solidFill>
                  <a:srgbClr val="141A26"/>
                </a:solidFill>
                <a:latin typeface="Calibri"/>
              </a:rPr>
              <a:t>Solide (s) — entités presque immobiles (elles vibrent), très proches, fortement liées.</a:t>
            </a:r>
          </a:p>
        </p:txBody>
      </p:sp>
      <p:sp>
        <p:nvSpPr>
          <p:cNvPr id="20" name="TextBox 19"/>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1" name="Oval 20"/>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pic>
        <p:nvPicPr>
          <p:cNvPr id="22" name="Picture 21" descr="site-t1c2ex2.png"/>
          <p:cNvPicPr>
            <a:picLocks noChangeAspect="1"/>
          </p:cNvPicPr>
          <p:nvPr/>
        </p:nvPicPr>
        <p:blipFill>
          <a:blip r:embed="rId3"/>
          <a:stretch>
            <a:fillRect/>
          </a:stretch>
        </p:blipFill>
        <p:spPr>
          <a:xfrm>
            <a:off x="2160000" y="3671999"/>
            <a:ext cx="5400000" cy="1636363"/>
          </a:xfrm>
          <a:prstGeom prst="rect">
            <a:avLst/>
          </a:prstGeom>
        </p:spPr>
      </p:pic>
      <p:sp>
        <p:nvSpPr>
          <p:cNvPr id="23" name="TextBox 22"/>
          <p:cNvSpPr txBox="1"/>
          <p:nvPr/>
        </p:nvSpPr>
        <p:spPr>
          <a:xfrm>
            <a:off x="324000" y="5616000"/>
            <a:ext cx="11556000" cy="432000"/>
          </a:xfrm>
          <a:prstGeom prst="rect">
            <a:avLst/>
          </a:prstGeom>
          <a:noFill/>
        </p:spPr>
        <p:txBody>
          <a:bodyPr wrap="square" anchor="t" lIns="0" rIns="0" tIns="0" bIns="0">
            <a:spAutoFit/>
          </a:bodyPr>
          <a:lstStyle/>
          <a:p>
            <a:pPr algn="l">
              <a:lnSpc>
                <a:spcPct val="100000"/>
              </a:lnSpc>
            </a:pPr>
            <a:r>
              <a:rPr sz="1200" b="1" i="0">
                <a:solidFill>
                  <a:srgbClr val="D6402B"/>
                </a:solidFill>
                <a:latin typeface="Courier New"/>
              </a:rPr>
              <a:t>Exercice 2 — </a:t>
            </a:r>
            <a:r>
              <a:rPr sz="1500" b="0" i="1">
                <a:solidFill>
                  <a:srgbClr val="141A26"/>
                </a:solidFill>
                <a:latin typeface="Calibri"/>
              </a:rPr>
              <a:t>le diamant · un verre de jus d'orange · l'air : associer chaque matière au schéma qui lui correspond, et préciser son état physique.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physiques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B — Changement d'état</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8</a:t>
            </a:r>
          </a:p>
        </p:txBody>
      </p:sp>
      <p:pic>
        <p:nvPicPr>
          <p:cNvPr id="12" name="Picture 11" descr="site-t1c2f5.png"/>
          <p:cNvPicPr>
            <a:picLocks noChangeAspect="1"/>
          </p:cNvPicPr>
          <p:nvPr/>
        </p:nvPicPr>
        <p:blipFill>
          <a:blip r:embed="rId2"/>
          <a:stretch>
            <a:fillRect/>
          </a:stretch>
        </p:blipFill>
        <p:spPr>
          <a:xfrm>
            <a:off x="6983999" y="972000"/>
            <a:ext cx="4680000" cy="3120000"/>
          </a:xfrm>
          <a:prstGeom prst="rect">
            <a:avLst/>
          </a:prstGeom>
        </p:spPr>
      </p:pic>
      <p:sp>
        <p:nvSpPr>
          <p:cNvPr id="13" name="TextBox 12"/>
          <p:cNvSpPr txBox="1"/>
          <p:nvPr/>
        </p:nvSpPr>
        <p:spPr>
          <a:xfrm>
            <a:off x="6983999" y="4156800"/>
            <a:ext cx="4680000" cy="432000"/>
          </a:xfrm>
          <a:prstGeom prst="rect">
            <a:avLst/>
          </a:prstGeom>
          <a:noFill/>
        </p:spPr>
        <p:txBody>
          <a:bodyPr wrap="square" lIns="0" rIns="0" tIns="0" bIns="0">
            <a:spAutoFit/>
          </a:bodyPr>
          <a:lstStyle/>
          <a:p>
            <a:pPr>
              <a:lnSpc>
                <a:spcPct val="110000"/>
              </a:lnSpc>
            </a:pPr>
            <a:r>
              <a:rPr sz="1000" b="0" i="0">
                <a:solidFill>
                  <a:srgbClr val="6B6F7A"/>
                </a:solidFill>
                <a:latin typeface="Courier New"/>
              </a:rPr>
              <a:t>Image 5 — Les six changements d'état. Cyan : endothermique. Rouge : exothermique.</a:t>
            </a:r>
          </a:p>
        </p:txBody>
      </p:sp>
      <p:sp>
        <p:nvSpPr>
          <p:cNvPr id="14" name="TextBox 13"/>
          <p:cNvSpPr txBox="1"/>
          <p:nvPr/>
        </p:nvSpPr>
        <p:spPr>
          <a:xfrm>
            <a:off x="9882000" y="849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5" name="Oval 14"/>
          <p:cNvSpPr/>
          <p:nvPr/>
        </p:nvSpPr>
        <p:spPr>
          <a:xfrm>
            <a:off x="11376000" y="792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6" name="Rectangle 15"/>
          <p:cNvSpPr/>
          <p:nvPr/>
        </p:nvSpPr>
        <p:spPr>
          <a:xfrm>
            <a:off x="324000" y="1007999"/>
            <a:ext cx="6336000" cy="1508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24000" y="1007999"/>
            <a:ext cx="46800" cy="15084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1108800"/>
            <a:ext cx="597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CHANGEMENT D'ÉTAT</a:t>
            </a:r>
          </a:p>
        </p:txBody>
      </p:sp>
      <p:sp>
        <p:nvSpPr>
          <p:cNvPr id="19" name="TextBox 18"/>
          <p:cNvSpPr txBox="1"/>
          <p:nvPr/>
        </p:nvSpPr>
        <p:spPr>
          <a:xfrm>
            <a:off x="486000" y="1350000"/>
            <a:ext cx="6012000" cy="10584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Lors d'un changement d'état, les propriétés de la matière changent, l'agitation et l'arrangement spatial des entités sont modifiés. Les liaisons entre les entités s'affaiblissent ou se renforcent, se rompent ou se créent.</a:t>
            </a:r>
          </a:p>
        </p:txBody>
      </p:sp>
      <p:sp>
        <p:nvSpPr>
          <p:cNvPr id="20" name="TextBox 19"/>
          <p:cNvSpPr txBox="1"/>
          <p:nvPr/>
        </p:nvSpPr>
        <p:spPr>
          <a:xfrm>
            <a:off x="4788000"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1" name="Oval 20"/>
          <p:cNvSpPr/>
          <p:nvPr/>
        </p:nvSpPr>
        <p:spPr>
          <a:xfrm>
            <a:off x="628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2" name="TextBox 21"/>
          <p:cNvSpPr txBox="1"/>
          <p:nvPr/>
        </p:nvSpPr>
        <p:spPr>
          <a:xfrm>
            <a:off x="324000" y="2714400"/>
            <a:ext cx="6336000" cy="360000"/>
          </a:xfrm>
          <a:prstGeom prst="rect">
            <a:avLst/>
          </a:prstGeom>
          <a:noFill/>
        </p:spPr>
        <p:txBody>
          <a:bodyPr wrap="square" anchor="t" lIns="0" rIns="0" tIns="0" bIns="0">
            <a:spAutoFit/>
          </a:bodyPr>
          <a:lstStyle/>
          <a:p>
            <a:pPr algn="l">
              <a:lnSpc>
                <a:spcPct val="100000"/>
              </a:lnSpc>
            </a:pPr>
            <a:r>
              <a:rPr sz="1600" b="1" i="0">
                <a:solidFill>
                  <a:srgbClr val="D6402B"/>
                </a:solidFill>
                <a:latin typeface="Calibri"/>
              </a:rPr>
              <a:t>Les six changements d'état sont à connaître par cœur.</a:t>
            </a:r>
          </a:p>
        </p:txBody>
      </p:sp>
      <p:sp>
        <p:nvSpPr>
          <p:cNvPr id="23" name="Rectangle 22"/>
          <p:cNvSpPr/>
          <p:nvPr/>
        </p:nvSpPr>
        <p:spPr>
          <a:xfrm>
            <a:off x="324000" y="3200400"/>
            <a:ext cx="6336000" cy="11196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24000" y="3200400"/>
            <a:ext cx="46800" cy="11196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000" y="3301200"/>
            <a:ext cx="597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3 — EXEMPLES DE CHANGEMENT D'ÉTAT</a:t>
            </a:r>
          </a:p>
        </p:txBody>
      </p:sp>
      <p:sp>
        <p:nvSpPr>
          <p:cNvPr id="26" name="TextBox 25"/>
          <p:cNvSpPr txBox="1"/>
          <p:nvPr/>
        </p:nvSpPr>
        <p:spPr>
          <a:xfrm>
            <a:off x="486000" y="3542400"/>
            <a:ext cx="6012000" cy="6696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Donner un exemple pour chacun des changements d'état suivants :</a:t>
            </a:r>
          </a:p>
          <a:p>
            <a:pPr algn="l">
              <a:lnSpc>
                <a:spcPct val="115000"/>
              </a:lnSpc>
              <a:spcAft>
                <a:spcPts val="600"/>
              </a:spcAft>
            </a:pPr>
            <a:r>
              <a:rPr sz="1500" b="0" i="0">
                <a:solidFill>
                  <a:srgbClr val="141A26"/>
                </a:solidFill>
                <a:latin typeface="Calibri"/>
              </a:rPr>
              <a:t>vaporisation   ·   solidification   ·   condensation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physiques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B — Corps pur ou mélange : le palier de température</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9</a:t>
            </a:r>
          </a:p>
        </p:txBody>
      </p:sp>
      <p:pic>
        <p:nvPicPr>
          <p:cNvPr id="12" name="Picture 11" descr="site-t1c2tp3.png"/>
          <p:cNvPicPr>
            <a:picLocks noChangeAspect="1"/>
          </p:cNvPicPr>
          <p:nvPr/>
        </p:nvPicPr>
        <p:blipFill>
          <a:blip r:embed="rId2"/>
          <a:stretch>
            <a:fillRect/>
          </a:stretch>
        </p:blipFill>
        <p:spPr>
          <a:xfrm>
            <a:off x="324000" y="1007999"/>
            <a:ext cx="6840000" cy="3610000"/>
          </a:xfrm>
          <a:prstGeom prst="rect">
            <a:avLst/>
          </a:prstGeom>
        </p:spPr>
      </p:pic>
      <p:sp>
        <p:nvSpPr>
          <p:cNvPr id="13" name="TextBox 12"/>
          <p:cNvSpPr txBox="1"/>
          <p:nvPr/>
        </p:nvSpPr>
        <p:spPr>
          <a:xfrm>
            <a:off x="324000" y="4682799"/>
            <a:ext cx="6840000" cy="432000"/>
          </a:xfrm>
          <a:prstGeom prst="rect">
            <a:avLst/>
          </a:prstGeom>
          <a:noFill/>
        </p:spPr>
        <p:txBody>
          <a:bodyPr wrap="square" lIns="0" rIns="0" tIns="0" bIns="0">
            <a:spAutoFit/>
          </a:bodyPr>
          <a:lstStyle/>
          <a:p>
            <a:pPr>
              <a:lnSpc>
                <a:spcPct val="110000"/>
              </a:lnSpc>
            </a:pPr>
            <a:r>
              <a:rPr sz="1000" b="0" i="0">
                <a:solidFill>
                  <a:srgbClr val="6B6F7A"/>
                </a:solidFill>
                <a:latin typeface="Courier New"/>
              </a:rPr>
              <a:t>Synthèse du TP3 — ① palier à 0 °C : les états solide et liquide coexistent. ② rupture de pente vers −4 °C pour l'eau salée.</a:t>
            </a:r>
          </a:p>
        </p:txBody>
      </p:sp>
      <p:sp>
        <p:nvSpPr>
          <p:cNvPr id="14" name="Rectangle 13"/>
          <p:cNvSpPr/>
          <p:nvPr/>
        </p:nvSpPr>
        <p:spPr>
          <a:xfrm>
            <a:off x="7416000" y="1007999"/>
            <a:ext cx="4464000" cy="1508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416000" y="1007999"/>
            <a:ext cx="46800" cy="15084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78000" y="1108800"/>
            <a:ext cx="4104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TEMPÉRATURE DE CHANGEMENT D'ÉTAT</a:t>
            </a:r>
          </a:p>
        </p:txBody>
      </p:sp>
      <p:sp>
        <p:nvSpPr>
          <p:cNvPr id="17" name="TextBox 16"/>
          <p:cNvSpPr txBox="1"/>
          <p:nvPr/>
        </p:nvSpPr>
        <p:spPr>
          <a:xfrm>
            <a:off x="7578000" y="1350000"/>
            <a:ext cx="4140000" cy="10584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Lors du changement d'état d'un corps pur, la température ne varie plus. Cette température est appelée température de changement d'état.</a:t>
            </a:r>
          </a:p>
        </p:txBody>
      </p:sp>
      <p:sp>
        <p:nvSpPr>
          <p:cNvPr id="18" name="TextBox 17"/>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9" name="Oval 18"/>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0" name="Rectangle 19"/>
          <p:cNvSpPr/>
          <p:nvPr/>
        </p:nvSpPr>
        <p:spPr>
          <a:xfrm>
            <a:off x="7416000" y="2714400"/>
            <a:ext cx="4464000" cy="1818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416000" y="2714400"/>
            <a:ext cx="46800" cy="1818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78000" y="2815200"/>
            <a:ext cx="4104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6 — CORPS PUR OU MÉLANGE ?</a:t>
            </a:r>
          </a:p>
        </p:txBody>
      </p:sp>
      <p:sp>
        <p:nvSpPr>
          <p:cNvPr id="23" name="TextBox 22"/>
          <p:cNvSpPr txBox="1"/>
          <p:nvPr/>
        </p:nvSpPr>
        <p:spPr>
          <a:xfrm>
            <a:off x="7578000" y="3056400"/>
            <a:ext cx="4140000" cy="13680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Deux courbes de refroidissement : la première présente un palier vers 6 °C ; la seconde, un cola, décroît régulièrement sans palier.</a:t>
            </a:r>
          </a:p>
          <a:p>
            <a:pPr algn="l">
              <a:lnSpc>
                <a:spcPct val="115000"/>
              </a:lnSpc>
              <a:spcAft>
                <a:spcPts val="600"/>
              </a:spcAft>
            </a:pPr>
            <a:r>
              <a:rPr sz="1500" b="0" i="1">
                <a:solidFill>
                  <a:srgbClr val="141A26"/>
                </a:solidFill>
                <a:latin typeface="Calibri"/>
              </a:rPr>
              <a:t>Corps pur ou mélange ? Préciser si possible la température de changement d'état.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physiques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C — Équation d'un changement d'état</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10</a:t>
            </a:r>
          </a:p>
        </p:txBody>
      </p:sp>
      <p:sp>
        <p:nvSpPr>
          <p:cNvPr id="12" name="Rectangle 11"/>
          <p:cNvSpPr/>
          <p:nvPr/>
        </p:nvSpPr>
        <p:spPr>
          <a:xfrm>
            <a:off x="324000" y="1007999"/>
            <a:ext cx="11556000" cy="14148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14148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11196000" cy="180000"/>
          </a:xfrm>
          <a:prstGeom prst="rect">
            <a:avLst/>
          </a:prstGeom>
          <a:noFill/>
        </p:spPr>
        <p:txBody>
          <a:bodyPr wrap="square" anchor="t" lIns="0" rIns="0" tIns="0" bIns="0">
            <a:spAutoFit/>
          </a:bodyPr>
          <a:lstStyle/>
          <a:p>
            <a:pPr algn="l">
              <a:lnSpc>
                <a:spcPct val="100000"/>
              </a:lnSpc>
            </a:pPr>
            <a:r>
              <a:rPr sz="1000" b="1" i="0">
                <a:solidFill>
                  <a:srgbClr val="4A3F9E"/>
                </a:solidFill>
                <a:latin typeface="Courier New"/>
              </a:rPr>
              <a:t>PROPRIÉTÉ — ÉCRITURE D'UN CHANGEMENT D'ÉTAT</a:t>
            </a:r>
          </a:p>
        </p:txBody>
      </p:sp>
      <p:sp>
        <p:nvSpPr>
          <p:cNvPr id="15" name="TextBox 14"/>
          <p:cNvSpPr txBox="1"/>
          <p:nvPr/>
        </p:nvSpPr>
        <p:spPr>
          <a:xfrm>
            <a:off x="486000" y="1350000"/>
            <a:ext cx="11232000" cy="9648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Au cours d'un changement d'état physique, les espèces chimiques ne sont pas modifiées. Pour modéliser le changement d'état d'une espèce chimique A, on écrit l'équation :</a:t>
            </a:r>
          </a:p>
          <a:p>
            <a:pPr algn="l">
              <a:lnSpc>
                <a:spcPct val="115000"/>
              </a:lnSpc>
              <a:spcAft>
                <a:spcPts val="600"/>
              </a:spcAft>
            </a:pPr>
            <a:r>
              <a:rPr sz="1900" b="1" i="0">
                <a:solidFill>
                  <a:srgbClr val="141A26"/>
                </a:solidFill>
                <a:latin typeface="Cambria"/>
              </a:rPr>
              <a:t>A (état physique initial)   →   A (état physique final)</a:t>
            </a:r>
          </a:p>
        </p:txBody>
      </p:sp>
      <p:sp>
        <p:nvSpPr>
          <p:cNvPr id="16" name="TextBox 15"/>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8" name="Rectangle 17"/>
          <p:cNvSpPr/>
          <p:nvPr/>
        </p:nvSpPr>
        <p:spPr>
          <a:xfrm>
            <a:off x="324000" y="2620800"/>
            <a:ext cx="5616000" cy="842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24000" y="2620800"/>
            <a:ext cx="46800" cy="842400"/>
          </a:xfrm>
          <a:prstGeom prst="rect">
            <a:avLst/>
          </a:prstGeom>
          <a:solidFill>
            <a:srgbClr val="4C8A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6000" y="2721600"/>
            <a:ext cx="5256000" cy="180000"/>
          </a:xfrm>
          <a:prstGeom prst="rect">
            <a:avLst/>
          </a:prstGeom>
          <a:noFill/>
        </p:spPr>
        <p:txBody>
          <a:bodyPr wrap="square" anchor="t" lIns="0" rIns="0" tIns="0" bIns="0">
            <a:spAutoFit/>
          </a:bodyPr>
          <a:lstStyle/>
          <a:p>
            <a:pPr algn="l">
              <a:lnSpc>
                <a:spcPct val="100000"/>
              </a:lnSpc>
            </a:pPr>
            <a:r>
              <a:rPr sz="1000" b="1" i="0">
                <a:solidFill>
                  <a:srgbClr val="4C8A58"/>
                </a:solidFill>
                <a:latin typeface="Courier New"/>
              </a:rPr>
              <a:t>EXEMPLE</a:t>
            </a:r>
          </a:p>
        </p:txBody>
      </p:sp>
      <p:sp>
        <p:nvSpPr>
          <p:cNvPr id="21" name="TextBox 20"/>
          <p:cNvSpPr txBox="1"/>
          <p:nvPr/>
        </p:nvSpPr>
        <p:spPr>
          <a:xfrm>
            <a:off x="486000" y="2962800"/>
            <a:ext cx="5292000" cy="392399"/>
          </a:xfrm>
          <a:prstGeom prst="rect">
            <a:avLst/>
          </a:prstGeom>
          <a:noFill/>
        </p:spPr>
        <p:txBody>
          <a:bodyPr wrap="square" anchor="t" lIns="0" rIns="0" tIns="0" bIns="0">
            <a:spAutoFit/>
          </a:bodyPr>
          <a:lstStyle/>
          <a:p>
            <a:pPr algn="l">
              <a:lnSpc>
                <a:spcPct val="115000"/>
              </a:lnSpc>
              <a:spcAft>
                <a:spcPts val="600"/>
              </a:spcAft>
            </a:pPr>
            <a:r>
              <a:rPr sz="1700" b="1" i="0">
                <a:solidFill>
                  <a:srgbClr val="141A26"/>
                </a:solidFill>
                <a:latin typeface="Cambria"/>
              </a:rPr>
              <a:t>Fusion de l'eau :        H₂O (s)   →   H₂O (l)</a:t>
            </a:r>
          </a:p>
        </p:txBody>
      </p:sp>
      <p:sp>
        <p:nvSpPr>
          <p:cNvPr id="22" name="Rectangle 21"/>
          <p:cNvSpPr/>
          <p:nvPr/>
        </p:nvSpPr>
        <p:spPr>
          <a:xfrm>
            <a:off x="324000" y="3661200"/>
            <a:ext cx="5616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24000" y="3661200"/>
            <a:ext cx="46800" cy="1044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6000" y="3761999"/>
            <a:ext cx="525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4 — ÉTABLIR UNE ÉQUATION</a:t>
            </a:r>
          </a:p>
        </p:txBody>
      </p:sp>
      <p:sp>
        <p:nvSpPr>
          <p:cNvPr id="25" name="TextBox 24"/>
          <p:cNvSpPr txBox="1"/>
          <p:nvPr/>
        </p:nvSpPr>
        <p:spPr>
          <a:xfrm>
            <a:off x="486000" y="4003199"/>
            <a:ext cx="5292000" cy="5940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Établir l'équation de la condensation de l'eau, puis de la solidification du fer Fe.</a:t>
            </a:r>
          </a:p>
        </p:txBody>
      </p:sp>
      <p:sp>
        <p:nvSpPr>
          <p:cNvPr id="26" name="Rectangle 25"/>
          <p:cNvSpPr/>
          <p:nvPr/>
        </p:nvSpPr>
        <p:spPr>
          <a:xfrm>
            <a:off x="6263999" y="2620800"/>
            <a:ext cx="5616000" cy="1490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263999" y="2620800"/>
            <a:ext cx="46800" cy="14904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5999" y="2721600"/>
            <a:ext cx="525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5 — IDENTIFIER UN CHANGEMENT D'ÉTAT</a:t>
            </a:r>
          </a:p>
        </p:txBody>
      </p:sp>
      <p:sp>
        <p:nvSpPr>
          <p:cNvPr id="29" name="TextBox 28"/>
          <p:cNvSpPr txBox="1"/>
          <p:nvPr/>
        </p:nvSpPr>
        <p:spPr>
          <a:xfrm>
            <a:off x="6425999" y="2962800"/>
            <a:ext cx="5292000" cy="1040399"/>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Quels changements d'état décrivent ces équations ?</a:t>
            </a:r>
          </a:p>
          <a:p>
            <a:pPr algn="l">
              <a:lnSpc>
                <a:spcPct val="115000"/>
              </a:lnSpc>
              <a:spcAft>
                <a:spcPts val="600"/>
              </a:spcAft>
            </a:pPr>
            <a:r>
              <a:rPr sz="1700" b="1" i="0">
                <a:solidFill>
                  <a:srgbClr val="141A26"/>
                </a:solidFill>
                <a:latin typeface="Cambria"/>
              </a:rPr>
              <a:t>H₂O (g)   →   H₂O (s)</a:t>
            </a:r>
          </a:p>
          <a:p>
            <a:pPr algn="l">
              <a:lnSpc>
                <a:spcPct val="115000"/>
              </a:lnSpc>
              <a:spcAft>
                <a:spcPts val="600"/>
              </a:spcAft>
            </a:pPr>
            <a:r>
              <a:rPr sz="1700" b="1" i="0">
                <a:solidFill>
                  <a:srgbClr val="141A26"/>
                </a:solidFill>
                <a:latin typeface="Cambria"/>
              </a:rPr>
              <a:t>Cu (s)   →   Cu (g)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physiques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D — Énergie de changement d'état</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11</a:t>
            </a:r>
          </a:p>
        </p:txBody>
      </p:sp>
      <p:sp>
        <p:nvSpPr>
          <p:cNvPr id="12" name="Rectangle 11"/>
          <p:cNvSpPr/>
          <p:nvPr/>
        </p:nvSpPr>
        <p:spPr>
          <a:xfrm>
            <a:off x="324000" y="1007999"/>
            <a:ext cx="11556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1044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1119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ÉNERGIE MASSIQUE DE CHANGEMENT D'ÉTAT L</a:t>
            </a:r>
          </a:p>
        </p:txBody>
      </p:sp>
      <p:sp>
        <p:nvSpPr>
          <p:cNvPr id="15" name="TextBox 14"/>
          <p:cNvSpPr txBox="1"/>
          <p:nvPr/>
        </p:nvSpPr>
        <p:spPr>
          <a:xfrm>
            <a:off x="486000" y="1350000"/>
            <a:ext cx="11232000" cy="594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L'énergie massique de changement d'état L d'un corps pur est l'énergie thermique que doit absorber ou libérer 1 kg de ce corps pour changer d'état, à sa température de changement d'état et pour une pression donnée. Elle s'exprime en J·kg⁻¹.</a:t>
            </a:r>
          </a:p>
        </p:txBody>
      </p:sp>
      <p:sp>
        <p:nvSpPr>
          <p:cNvPr id="16" name="TextBox 15"/>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pic>
        <p:nvPicPr>
          <p:cNvPr id="18" name="Picture 17" descr="site-t1c2f6.png"/>
          <p:cNvPicPr>
            <a:picLocks noChangeAspect="1"/>
          </p:cNvPicPr>
          <p:nvPr/>
        </p:nvPicPr>
        <p:blipFill>
          <a:blip r:embed="rId2"/>
          <a:stretch>
            <a:fillRect/>
          </a:stretch>
        </p:blipFill>
        <p:spPr>
          <a:xfrm>
            <a:off x="1080000" y="2736000"/>
            <a:ext cx="6263999" cy="2863542"/>
          </a:xfrm>
          <a:prstGeom prst="rect">
            <a:avLst/>
          </a:prstGeom>
        </p:spPr>
      </p:pic>
      <p:sp>
        <p:nvSpPr>
          <p:cNvPr id="19" name="TextBox 18"/>
          <p:cNvSpPr txBox="1"/>
          <p:nvPr/>
        </p:nvSpPr>
        <p:spPr>
          <a:xfrm>
            <a:off x="1080000" y="5664342"/>
            <a:ext cx="6263999" cy="432000"/>
          </a:xfrm>
          <a:prstGeom prst="rect">
            <a:avLst/>
          </a:prstGeom>
          <a:noFill/>
        </p:spPr>
        <p:txBody>
          <a:bodyPr wrap="square" lIns="0" rIns="0" tIns="0" bIns="0">
            <a:spAutoFit/>
          </a:bodyPr>
          <a:lstStyle/>
          <a:p>
            <a:pPr>
              <a:lnSpc>
                <a:spcPct val="110000"/>
              </a:lnSpc>
            </a:pPr>
            <a:r>
              <a:rPr sz="1000" b="0" i="0">
                <a:solidFill>
                  <a:srgbClr val="6B6F7A"/>
                </a:solidFill>
                <a:latin typeface="Courier New"/>
              </a:rPr>
              <a:t>Image 6 — Pour passer d'un état condensé vers un état aux liaisons faibles ou inexistantes, la matière prend de l'énergie au milieu extérieur, et réciproquement.</a:t>
            </a:r>
          </a:p>
        </p:txBody>
      </p:sp>
      <p:sp>
        <p:nvSpPr>
          <p:cNvPr id="20" name="Rectangle 19"/>
          <p:cNvSpPr/>
          <p:nvPr/>
        </p:nvSpPr>
        <p:spPr>
          <a:xfrm>
            <a:off x="7776000" y="2736000"/>
            <a:ext cx="4104000" cy="14292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776000" y="2736000"/>
            <a:ext cx="46800" cy="14292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38000" y="2836800"/>
            <a:ext cx="3744000" cy="180000"/>
          </a:xfrm>
          <a:prstGeom prst="rect">
            <a:avLst/>
          </a:prstGeom>
          <a:noFill/>
        </p:spPr>
        <p:txBody>
          <a:bodyPr wrap="square" anchor="t" lIns="0" rIns="0" tIns="0" bIns="0">
            <a:spAutoFit/>
          </a:bodyPr>
          <a:lstStyle/>
          <a:p>
            <a:pPr algn="l">
              <a:lnSpc>
                <a:spcPct val="100000"/>
              </a:lnSpc>
            </a:pPr>
            <a:r>
              <a:rPr sz="1000" b="1" i="0">
                <a:solidFill>
                  <a:srgbClr val="4A3F9E"/>
                </a:solidFill>
                <a:latin typeface="Courier New"/>
              </a:rPr>
              <a:t>PROPRIÉTÉ — SIGNE DE L</a:t>
            </a:r>
          </a:p>
        </p:txBody>
      </p:sp>
      <p:sp>
        <p:nvSpPr>
          <p:cNvPr id="23" name="TextBox 22"/>
          <p:cNvSpPr txBox="1"/>
          <p:nvPr/>
        </p:nvSpPr>
        <p:spPr>
          <a:xfrm>
            <a:off x="7938000" y="3077999"/>
            <a:ext cx="3780000" cy="9792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L</a:t>
            </a:r>
            <a:r>
              <a:rPr sz="1500" b="0" i="0" baseline="-25000">
                <a:solidFill>
                  <a:srgbClr val="141A26"/>
                </a:solidFill>
                <a:latin typeface="Calibri"/>
              </a:rPr>
              <a:t>fusion</a:t>
            </a:r>
            <a:r>
              <a:rPr sz="1500" b="0" i="0">
                <a:solidFill>
                  <a:srgbClr val="141A26"/>
                </a:solidFill>
                <a:latin typeface="Calibri"/>
              </a:rPr>
              <a:t> = − </a:t>
            </a:r>
            <a:r>
              <a:rPr sz="1500" b="0" i="1">
                <a:solidFill>
                  <a:srgbClr val="141A26"/>
                </a:solidFill>
                <a:latin typeface="Calibri"/>
              </a:rPr>
              <a:t>L</a:t>
            </a:r>
            <a:r>
              <a:rPr sz="1500" b="0" i="0" baseline="-25000">
                <a:solidFill>
                  <a:srgbClr val="141A26"/>
                </a:solidFill>
                <a:latin typeface="Calibri"/>
              </a:rPr>
              <a:t>solidification</a:t>
            </a:r>
          </a:p>
          <a:p>
            <a:pPr algn="l">
              <a:lnSpc>
                <a:spcPct val="115000"/>
              </a:lnSpc>
              <a:spcAft>
                <a:spcPts val="600"/>
              </a:spcAft>
            </a:pPr>
            <a:r>
              <a:rPr sz="1500" b="0" i="1">
                <a:solidFill>
                  <a:srgbClr val="141A26"/>
                </a:solidFill>
                <a:latin typeface="Calibri"/>
              </a:rPr>
              <a:t>L</a:t>
            </a:r>
            <a:r>
              <a:rPr sz="1500" b="0" i="0" baseline="-25000">
                <a:solidFill>
                  <a:srgbClr val="141A26"/>
                </a:solidFill>
                <a:latin typeface="Calibri"/>
              </a:rPr>
              <a:t>sublimation</a:t>
            </a:r>
            <a:r>
              <a:rPr sz="1500" b="0" i="0">
                <a:solidFill>
                  <a:srgbClr val="141A26"/>
                </a:solidFill>
                <a:latin typeface="Calibri"/>
              </a:rPr>
              <a:t> = − </a:t>
            </a:r>
            <a:r>
              <a:rPr sz="1500" b="0" i="1">
                <a:solidFill>
                  <a:srgbClr val="141A26"/>
                </a:solidFill>
                <a:latin typeface="Calibri"/>
              </a:rPr>
              <a:t>L</a:t>
            </a:r>
            <a:r>
              <a:rPr sz="1500" b="0" i="0" baseline="-25000">
                <a:solidFill>
                  <a:srgbClr val="141A26"/>
                </a:solidFill>
                <a:latin typeface="Calibri"/>
              </a:rPr>
              <a:t>condensation</a:t>
            </a:r>
          </a:p>
          <a:p>
            <a:pPr algn="l">
              <a:lnSpc>
                <a:spcPct val="115000"/>
              </a:lnSpc>
              <a:spcAft>
                <a:spcPts val="600"/>
              </a:spcAft>
            </a:pPr>
            <a:r>
              <a:rPr sz="1500" b="0" i="0">
                <a:solidFill>
                  <a:srgbClr val="141A26"/>
                </a:solidFill>
                <a:latin typeface="Calibri"/>
              </a:rPr>
              <a:t>Le signe traduit le sens de l'échange.</a:t>
            </a:r>
          </a:p>
        </p:txBody>
      </p:sp>
      <p:sp>
        <p:nvSpPr>
          <p:cNvPr id="24" name="TextBox 23"/>
          <p:cNvSpPr txBox="1"/>
          <p:nvPr/>
        </p:nvSpPr>
        <p:spPr>
          <a:xfrm>
            <a:off x="10007999" y="2865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5" name="Oval 24"/>
          <p:cNvSpPr/>
          <p:nvPr/>
        </p:nvSpPr>
        <p:spPr>
          <a:xfrm>
            <a:off x="11502000" y="2808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physiques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D — La relation entre énergie, masse et L</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12</a:t>
            </a:r>
          </a:p>
        </p:txBody>
      </p:sp>
      <p:sp>
        <p:nvSpPr>
          <p:cNvPr id="12" name="TextBox 11"/>
          <p:cNvSpPr txBox="1"/>
          <p:nvPr/>
        </p:nvSpPr>
        <p:spPr>
          <a:xfrm>
            <a:off x="324000" y="972000"/>
            <a:ext cx="11556000" cy="576000"/>
          </a:xfrm>
          <a:prstGeom prst="rect">
            <a:avLst/>
          </a:prstGeom>
          <a:noFill/>
        </p:spPr>
        <p:txBody>
          <a:bodyPr wrap="square" anchor="t" lIns="0" rIns="0" tIns="0" bIns="0">
            <a:spAutoFit/>
          </a:bodyPr>
          <a:lstStyle/>
          <a:p>
            <a:pPr algn="l">
              <a:lnSpc>
                <a:spcPct val="100000"/>
              </a:lnSpc>
            </a:pPr>
            <a:r>
              <a:rPr sz="1600" b="0" i="0">
                <a:solidFill>
                  <a:srgbClr val="141A26"/>
                </a:solidFill>
                <a:latin typeface="Calibri"/>
              </a:rPr>
              <a:t>Pour 1 kg, l'énergie massique suffit. Pour une masse quelconque, il faut une relation : l'énergie Q échangée est le produit de la masse par l'énergie massique.</a:t>
            </a:r>
          </a:p>
        </p:txBody>
      </p:sp>
      <p:sp>
        <p:nvSpPr>
          <p:cNvPr id="13" name="Rectangle 12"/>
          <p:cNvSpPr/>
          <p:nvPr/>
        </p:nvSpPr>
        <p:spPr>
          <a:xfrm>
            <a:off x="1152000" y="1655999"/>
            <a:ext cx="9864000" cy="1512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8000" y="1835999"/>
            <a:ext cx="4734720" cy="1152000"/>
          </a:xfrm>
          <a:prstGeom prst="rect">
            <a:avLst/>
          </a:prstGeom>
          <a:noFill/>
        </p:spPr>
        <p:txBody>
          <a:bodyPr wrap="square" anchor="ctr" lIns="0" rIns="0" tIns="0" bIns="0">
            <a:spAutoFit/>
          </a:bodyPr>
          <a:lstStyle/>
          <a:p>
            <a:pPr algn="ctr">
              <a:lnSpc>
                <a:spcPct val="100000"/>
              </a:lnSpc>
            </a:pPr>
            <a:r>
              <a:rPr sz="2600" b="0" i="1">
                <a:solidFill>
                  <a:srgbClr val="FDFCF8"/>
                </a:solidFill>
                <a:latin typeface="Cambria"/>
              </a:rPr>
              <a:t>Q</a:t>
            </a:r>
            <a:r>
              <a:rPr sz="2600" b="0" i="1">
                <a:solidFill>
                  <a:srgbClr val="FDFCF8"/>
                </a:solidFill>
                <a:latin typeface="Cambria"/>
              </a:rPr>
              <a:t> = </a:t>
            </a:r>
            <a:r>
              <a:rPr sz="2600" b="0" i="1">
                <a:solidFill>
                  <a:srgbClr val="FDFCF8"/>
                </a:solidFill>
                <a:latin typeface="Cambria"/>
              </a:rPr>
              <a:t>m</a:t>
            </a:r>
            <a:r>
              <a:rPr sz="2600" b="0" i="1">
                <a:solidFill>
                  <a:srgbClr val="FDFCF8"/>
                </a:solidFill>
                <a:latin typeface="Cambria"/>
              </a:rPr>
              <a:t> × </a:t>
            </a:r>
            <a:r>
              <a:rPr sz="2600" b="0" i="1">
                <a:solidFill>
                  <a:srgbClr val="FDFCF8"/>
                </a:solidFill>
                <a:latin typeface="Cambria"/>
              </a:rPr>
              <a:t>L</a:t>
            </a:r>
          </a:p>
        </p:txBody>
      </p:sp>
      <p:sp>
        <p:nvSpPr>
          <p:cNvPr id="15" name="Rectangle 14"/>
          <p:cNvSpPr/>
          <p:nvPr/>
        </p:nvSpPr>
        <p:spPr>
          <a:xfrm>
            <a:off x="6281280" y="1835999"/>
            <a:ext cx="10800" cy="1152000"/>
          </a:xfrm>
          <a:prstGeom prst="rect">
            <a:avLst/>
          </a:prstGeom>
          <a:solidFill>
            <a:srgbClr val="6B6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74479" y="1818000"/>
            <a:ext cx="3945600" cy="180000"/>
          </a:xfrm>
          <a:prstGeom prst="rect">
            <a:avLst/>
          </a:prstGeom>
          <a:noFill/>
        </p:spPr>
        <p:txBody>
          <a:bodyPr wrap="square" anchor="t" lIns="0" rIns="0" tIns="0" bIns="0">
            <a:spAutoFit/>
          </a:bodyPr>
          <a:lstStyle/>
          <a:p>
            <a:pPr algn="l">
              <a:lnSpc>
                <a:spcPct val="100000"/>
              </a:lnSpc>
            </a:pPr>
            <a:r>
              <a:rPr sz="900" b="1" i="0">
                <a:solidFill>
                  <a:srgbClr val="9A8F6E"/>
                </a:solidFill>
                <a:latin typeface="Courier New"/>
              </a:rPr>
              <a:t>GRANDEURS &amp; UNITÉS</a:t>
            </a:r>
          </a:p>
        </p:txBody>
      </p:sp>
      <p:sp>
        <p:nvSpPr>
          <p:cNvPr id="17" name="TextBox 16"/>
          <p:cNvSpPr txBox="1"/>
          <p:nvPr/>
        </p:nvSpPr>
        <p:spPr>
          <a:xfrm>
            <a:off x="6774479" y="2033999"/>
            <a:ext cx="3945600" cy="972000"/>
          </a:xfrm>
          <a:prstGeom prst="rect">
            <a:avLst/>
          </a:prstGeom>
          <a:noFill/>
        </p:spPr>
        <p:txBody>
          <a:bodyPr wrap="square" anchor="t" lIns="0" rIns="0" tIns="0" bIns="0">
            <a:spAutoFit/>
          </a:bodyPr>
          <a:lstStyle/>
          <a:p>
            <a:pPr algn="l">
              <a:lnSpc>
                <a:spcPct val="120000"/>
              </a:lnSpc>
              <a:spcAft>
                <a:spcPts val="400"/>
              </a:spcAft>
            </a:pPr>
            <a:r>
              <a:rPr sz="1300" b="1" i="0">
                <a:solidFill>
                  <a:srgbClr val="FDFCF8"/>
                </a:solidFill>
                <a:latin typeface="Calibri"/>
              </a:rPr>
              <a:t>Q</a:t>
            </a:r>
            <a:r>
              <a:rPr sz="1300" b="0" i="0">
                <a:solidFill>
                  <a:srgbClr val="FDFCF8"/>
                </a:solidFill>
                <a:latin typeface="Calibri"/>
              </a:rPr>
              <a:t>  énergie échangée · J</a:t>
            </a:r>
          </a:p>
          <a:p>
            <a:pPr algn="l">
              <a:lnSpc>
                <a:spcPct val="120000"/>
              </a:lnSpc>
              <a:spcAft>
                <a:spcPts val="400"/>
              </a:spcAft>
            </a:pPr>
            <a:r>
              <a:rPr sz="1300" b="1" i="0">
                <a:solidFill>
                  <a:srgbClr val="FDFCF8"/>
                </a:solidFill>
                <a:latin typeface="Calibri"/>
              </a:rPr>
              <a:t>m</a:t>
            </a:r>
            <a:r>
              <a:rPr sz="1300" b="0" i="0">
                <a:solidFill>
                  <a:srgbClr val="FDFCF8"/>
                </a:solidFill>
                <a:latin typeface="Calibri"/>
              </a:rPr>
              <a:t>  masse · kg</a:t>
            </a:r>
          </a:p>
          <a:p>
            <a:pPr algn="l">
              <a:lnSpc>
                <a:spcPct val="120000"/>
              </a:lnSpc>
              <a:spcAft>
                <a:spcPts val="400"/>
              </a:spcAft>
            </a:pPr>
            <a:r>
              <a:rPr sz="1300" b="1" i="0">
                <a:solidFill>
                  <a:srgbClr val="FDFCF8"/>
                </a:solidFill>
                <a:latin typeface="Calibri"/>
              </a:rPr>
              <a:t>L</a:t>
            </a:r>
            <a:r>
              <a:rPr sz="1300" b="0" i="0">
                <a:solidFill>
                  <a:srgbClr val="FDFCF8"/>
                </a:solidFill>
                <a:latin typeface="Calibri"/>
              </a:rPr>
              <a:t>  énergie massique · J·kg⁻¹</a:t>
            </a:r>
          </a:p>
        </p:txBody>
      </p:sp>
      <p:sp>
        <p:nvSpPr>
          <p:cNvPr id="18" name="TextBox 17"/>
          <p:cNvSpPr txBox="1"/>
          <p:nvPr/>
        </p:nvSpPr>
        <p:spPr>
          <a:xfrm>
            <a:off x="9090000" y="149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9" name="Oval 18"/>
          <p:cNvSpPr/>
          <p:nvPr/>
        </p:nvSpPr>
        <p:spPr>
          <a:xfrm>
            <a:off x="10584000" y="144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0" name="Rectangle 19"/>
          <p:cNvSpPr/>
          <p:nvPr/>
        </p:nvSpPr>
        <p:spPr>
          <a:xfrm>
            <a:off x="324000" y="3384000"/>
            <a:ext cx="5616000" cy="1724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24000" y="3384000"/>
            <a:ext cx="46800" cy="17244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6000" y="3484800"/>
            <a:ext cx="525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8 — SOLIDIFICATION DU FER</a:t>
            </a:r>
          </a:p>
        </p:txBody>
      </p:sp>
      <p:sp>
        <p:nvSpPr>
          <p:cNvPr id="23" name="TextBox 22"/>
          <p:cNvSpPr txBox="1"/>
          <p:nvPr/>
        </p:nvSpPr>
        <p:spPr>
          <a:xfrm>
            <a:off x="486000" y="3726000"/>
            <a:ext cx="5292000" cy="12744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On étudie la solidification de 200 g de fer pur en fusion. Quelle énergie est transférée avec le milieu extérieur ? Schématiser le transfert.</a:t>
            </a:r>
          </a:p>
          <a:p>
            <a:pPr algn="l">
              <a:lnSpc>
                <a:spcPct val="115000"/>
              </a:lnSpc>
              <a:spcAft>
                <a:spcPts val="600"/>
              </a:spcAft>
            </a:pPr>
            <a:r>
              <a:rPr sz="1200" b="0" i="0">
                <a:solidFill>
                  <a:srgbClr val="141A26"/>
                </a:solidFill>
                <a:latin typeface="Courier New"/>
              </a:rPr>
              <a:t>Données : L</a:t>
            </a:r>
            <a:r>
              <a:rPr sz="1200" b="0" i="0" baseline="-25000">
                <a:solidFill>
                  <a:srgbClr val="141A26"/>
                </a:solidFill>
                <a:latin typeface="Courier New"/>
              </a:rPr>
              <a:t>fusion</a:t>
            </a:r>
            <a:r>
              <a:rPr sz="1200" b="0" i="0">
                <a:solidFill>
                  <a:srgbClr val="141A26"/>
                </a:solidFill>
                <a:latin typeface="Courier New"/>
              </a:rPr>
              <a:t>(fer) = 270 kJ·kg⁻¹  ·  L</a:t>
            </a:r>
            <a:r>
              <a:rPr sz="1200" b="0" i="0" baseline="-25000">
                <a:solidFill>
                  <a:srgbClr val="141A26"/>
                </a:solidFill>
                <a:latin typeface="Courier New"/>
              </a:rPr>
              <a:t>solidification</a:t>
            </a:r>
            <a:r>
              <a:rPr sz="1200" b="0" i="0">
                <a:solidFill>
                  <a:srgbClr val="141A26"/>
                </a:solidFill>
                <a:latin typeface="Courier New"/>
              </a:rPr>
              <a:t>(fer) = −270 kJ·kg⁻¹</a:t>
            </a:r>
          </a:p>
        </p:txBody>
      </p:sp>
      <p:sp>
        <p:nvSpPr>
          <p:cNvPr id="24" name="Rectangle 23"/>
          <p:cNvSpPr/>
          <p:nvPr/>
        </p:nvSpPr>
        <p:spPr>
          <a:xfrm>
            <a:off x="6263999" y="3384000"/>
            <a:ext cx="5616000" cy="1724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263999" y="3384000"/>
            <a:ext cx="46800" cy="17244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25999" y="3484800"/>
            <a:ext cx="525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9 — ÉNERGIE DE LA TSAR BOMBA</a:t>
            </a:r>
          </a:p>
        </p:txBody>
      </p:sp>
      <p:sp>
        <p:nvSpPr>
          <p:cNvPr id="27" name="TextBox 26"/>
          <p:cNvSpPr txBox="1"/>
          <p:nvPr/>
        </p:nvSpPr>
        <p:spPr>
          <a:xfrm>
            <a:off x="6425999" y="3726000"/>
            <a:ext cx="5292000" cy="12744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La tsar bomba, l'arme la plus puissante jamais testée, a libéré 57 mégatonnes de TNT. Quelle masse d'eau pourrait-on vaporiser avec cette énergie ?</a:t>
            </a:r>
          </a:p>
          <a:p>
            <a:pPr algn="l">
              <a:lnSpc>
                <a:spcPct val="115000"/>
              </a:lnSpc>
              <a:spcAft>
                <a:spcPts val="600"/>
              </a:spcAft>
            </a:pPr>
            <a:r>
              <a:rPr sz="1200" b="0" i="0">
                <a:solidFill>
                  <a:srgbClr val="141A26"/>
                </a:solidFill>
                <a:latin typeface="Courier New"/>
              </a:rPr>
              <a:t>Données : 1 Mt = 4,2 × 10¹⁵ J  ·  L</a:t>
            </a:r>
            <a:r>
              <a:rPr sz="1200" b="0" i="0" baseline="-25000">
                <a:solidFill>
                  <a:srgbClr val="141A26"/>
                </a:solidFill>
                <a:latin typeface="Courier New"/>
              </a:rPr>
              <a:t>vaporisation</a:t>
            </a:r>
            <a:r>
              <a:rPr sz="1200" b="0" i="0">
                <a:solidFill>
                  <a:srgbClr val="141A26"/>
                </a:solidFill>
                <a:latin typeface="Courier New"/>
              </a:rPr>
              <a:t>(eau) = 2,3 × 10⁶ J·kg⁻¹</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400"/>
                                        <p:tgtEl>
                                          <p:spTgt spid="1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858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64000" y="1080000"/>
            <a:ext cx="4320000" cy="1512000"/>
          </a:xfrm>
          <a:prstGeom prst="rect">
            <a:avLst/>
          </a:prstGeom>
          <a:noFill/>
        </p:spPr>
        <p:txBody>
          <a:bodyPr wrap="square" anchor="t" lIns="0" rIns="0" tIns="0" bIns="0">
            <a:spAutoFit/>
          </a:bodyPr>
          <a:lstStyle/>
          <a:p>
            <a:pPr algn="l">
              <a:lnSpc>
                <a:spcPct val="100000"/>
              </a:lnSpc>
            </a:pPr>
            <a:r>
              <a:rPr sz="10400" b="1" i="0">
                <a:solidFill>
                  <a:srgbClr val="3A445C"/>
                </a:solidFill>
                <a:latin typeface="Cambria"/>
              </a:rPr>
              <a:t>III</a:t>
            </a:r>
          </a:p>
        </p:txBody>
      </p:sp>
      <p:sp>
        <p:nvSpPr>
          <p:cNvPr id="4" name="TextBox 3"/>
          <p:cNvSpPr txBox="1"/>
          <p:nvPr/>
        </p:nvSpPr>
        <p:spPr>
          <a:xfrm>
            <a:off x="864000" y="2700000"/>
            <a:ext cx="10080000" cy="720000"/>
          </a:xfrm>
          <a:prstGeom prst="rect">
            <a:avLst/>
          </a:prstGeom>
          <a:noFill/>
        </p:spPr>
        <p:txBody>
          <a:bodyPr wrap="square" anchor="t" lIns="0" rIns="0" tIns="0" bIns="0">
            <a:spAutoFit/>
          </a:bodyPr>
          <a:lstStyle/>
          <a:p>
            <a:pPr algn="l">
              <a:lnSpc>
                <a:spcPct val="100000"/>
              </a:lnSpc>
            </a:pPr>
            <a:r>
              <a:rPr sz="3600" b="1" i="0">
                <a:solidFill>
                  <a:srgbClr val="FDFCF8"/>
                </a:solidFill>
                <a:latin typeface="Cambria"/>
              </a:rPr>
              <a:t>Transformations chimiques</a:t>
            </a:r>
          </a:p>
        </p:txBody>
      </p:sp>
      <p:sp>
        <p:nvSpPr>
          <p:cNvPr id="5" name="Rectangle 4"/>
          <p:cNvSpPr/>
          <p:nvPr/>
        </p:nvSpPr>
        <p:spPr>
          <a:xfrm>
            <a:off x="864000" y="3348000"/>
            <a:ext cx="1800000" cy="216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6000" y="3636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A — États physiques</a:t>
            </a:r>
          </a:p>
        </p:txBody>
      </p:sp>
      <p:sp>
        <p:nvSpPr>
          <p:cNvPr id="7" name="TextBox 6"/>
          <p:cNvSpPr txBox="1"/>
          <p:nvPr/>
        </p:nvSpPr>
        <p:spPr>
          <a:xfrm>
            <a:off x="936000" y="3977999"/>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B — Système chimique</a:t>
            </a:r>
          </a:p>
        </p:txBody>
      </p:sp>
      <p:sp>
        <p:nvSpPr>
          <p:cNvPr id="8" name="TextBox 7"/>
          <p:cNvSpPr txBox="1"/>
          <p:nvPr/>
        </p:nvSpPr>
        <p:spPr>
          <a:xfrm>
            <a:off x="936000" y="4320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C — Représenter une transformation chimique</a:t>
            </a:r>
          </a:p>
        </p:txBody>
      </p:sp>
      <p:sp>
        <p:nvSpPr>
          <p:cNvPr id="9" name="TextBox 8"/>
          <p:cNvSpPr txBox="1"/>
          <p:nvPr/>
        </p:nvSpPr>
        <p:spPr>
          <a:xfrm>
            <a:off x="936000" y="4662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D — Lois de conservation</a:t>
            </a:r>
          </a:p>
        </p:txBody>
      </p:sp>
      <p:sp>
        <p:nvSpPr>
          <p:cNvPr id="10" name="TextBox 9"/>
          <p:cNvSpPr txBox="1"/>
          <p:nvPr/>
        </p:nvSpPr>
        <p:spPr>
          <a:xfrm>
            <a:off x="936000" y="5003999"/>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E — Équation de réaction chimique</a:t>
            </a:r>
          </a:p>
        </p:txBody>
      </p:sp>
      <p:sp>
        <p:nvSpPr>
          <p:cNvPr id="11" name="TextBox 10"/>
          <p:cNvSpPr txBox="1"/>
          <p:nvPr/>
        </p:nvSpPr>
        <p:spPr>
          <a:xfrm>
            <a:off x="936000" y="5346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F — Stœchiométrie</a:t>
            </a:r>
          </a:p>
        </p:txBody>
      </p:sp>
      <p:sp>
        <p:nvSpPr>
          <p:cNvPr id="12" name="TextBox 11"/>
          <p:cNvSpPr txBox="1"/>
          <p:nvPr/>
        </p:nvSpPr>
        <p:spPr>
          <a:xfrm>
            <a:off x="936000" y="5688000"/>
            <a:ext cx="10080000" cy="288000"/>
          </a:xfrm>
          <a:prstGeom prst="rect">
            <a:avLst/>
          </a:prstGeom>
          <a:noFill/>
        </p:spPr>
        <p:txBody>
          <a:bodyPr wrap="square" anchor="t" lIns="0" rIns="0" tIns="0" bIns="0">
            <a:spAutoFit/>
          </a:bodyPr>
          <a:lstStyle/>
          <a:p>
            <a:pPr algn="l">
              <a:lnSpc>
                <a:spcPct val="100000"/>
              </a:lnSpc>
            </a:pPr>
            <a:r>
              <a:rPr sz="1500" b="0" i="0">
                <a:solidFill>
                  <a:srgbClr val="9AA2B2"/>
                </a:solidFill>
                <a:latin typeface="Courier New"/>
              </a:rPr>
              <a:t>G — Réactif limitant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A — États physiques   ·   B — Système chimique</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14</a:t>
            </a:r>
          </a:p>
        </p:txBody>
      </p:sp>
      <p:sp>
        <p:nvSpPr>
          <p:cNvPr id="12" name="Rectangle 11"/>
          <p:cNvSpPr/>
          <p:nvPr/>
        </p:nvSpPr>
        <p:spPr>
          <a:xfrm>
            <a:off x="324000" y="1007999"/>
            <a:ext cx="5616000" cy="158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1584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5256000" cy="180000"/>
          </a:xfrm>
          <a:prstGeom prst="rect">
            <a:avLst/>
          </a:prstGeom>
          <a:noFill/>
        </p:spPr>
        <p:txBody>
          <a:bodyPr wrap="square" anchor="t" lIns="0" rIns="0" tIns="0" bIns="0">
            <a:spAutoFit/>
          </a:bodyPr>
          <a:lstStyle/>
          <a:p>
            <a:pPr algn="l">
              <a:lnSpc>
                <a:spcPct val="100000"/>
              </a:lnSpc>
            </a:pPr>
            <a:r>
              <a:rPr sz="1000" b="1" i="0">
                <a:solidFill>
                  <a:srgbClr val="4A3F9E"/>
                </a:solidFill>
                <a:latin typeface="Courier New"/>
              </a:rPr>
              <a:t>NOTATIONS — LES ÉTATS PHYSIQUES</a:t>
            </a:r>
          </a:p>
        </p:txBody>
      </p:sp>
      <p:sp>
        <p:nvSpPr>
          <p:cNvPr id="15" name="TextBox 14"/>
          <p:cNvSpPr txBox="1"/>
          <p:nvPr/>
        </p:nvSpPr>
        <p:spPr>
          <a:xfrm>
            <a:off x="486000" y="1350000"/>
            <a:ext cx="5292000" cy="1134000"/>
          </a:xfrm>
          <a:prstGeom prst="rect">
            <a:avLst/>
          </a:prstGeom>
          <a:noFill/>
        </p:spPr>
        <p:txBody>
          <a:bodyPr wrap="square" anchor="t" lIns="0" rIns="0" tIns="0" bIns="0">
            <a:spAutoFit/>
          </a:bodyPr>
          <a:lstStyle/>
          <a:p>
            <a:pPr algn="l">
              <a:lnSpc>
                <a:spcPct val="115000"/>
              </a:lnSpc>
              <a:spcAft>
                <a:spcPts val="600"/>
              </a:spcAft>
            </a:pPr>
            <a:r>
              <a:rPr sz="1500" b="1" i="0">
                <a:solidFill>
                  <a:srgbClr val="141A26"/>
                </a:solidFill>
                <a:latin typeface="Calibri"/>
              </a:rPr>
              <a:t>(s)</a:t>
            </a:r>
            <a:r>
              <a:rPr sz="1500" b="0" i="0">
                <a:solidFill>
                  <a:srgbClr val="141A26"/>
                </a:solidFill>
                <a:latin typeface="Calibri"/>
              </a:rPr>
              <a:t>  solide          </a:t>
            </a:r>
            <a:r>
              <a:rPr sz="1500" b="1" i="0">
                <a:solidFill>
                  <a:srgbClr val="141A26"/>
                </a:solidFill>
                <a:latin typeface="Calibri"/>
              </a:rPr>
              <a:t>(l)</a:t>
            </a:r>
            <a:r>
              <a:rPr sz="1500" b="0" i="0">
                <a:solidFill>
                  <a:srgbClr val="141A26"/>
                </a:solidFill>
                <a:latin typeface="Calibri"/>
              </a:rPr>
              <a:t>  liquide          </a:t>
            </a:r>
            <a:r>
              <a:rPr sz="1500" b="1" i="0">
                <a:solidFill>
                  <a:srgbClr val="141A26"/>
                </a:solidFill>
                <a:latin typeface="Calibri"/>
              </a:rPr>
              <a:t>(g)</a:t>
            </a:r>
            <a:r>
              <a:rPr sz="1500" b="0" i="0">
                <a:solidFill>
                  <a:srgbClr val="141A26"/>
                </a:solidFill>
                <a:latin typeface="Calibri"/>
              </a:rPr>
              <a:t>  gazeux</a:t>
            </a:r>
          </a:p>
          <a:p>
            <a:pPr algn="l">
              <a:lnSpc>
                <a:spcPct val="115000"/>
              </a:lnSpc>
              <a:spcAft>
                <a:spcPts val="600"/>
              </a:spcAft>
            </a:pPr>
            <a:r>
              <a:rPr sz="1500" b="1" i="0">
                <a:solidFill>
                  <a:srgbClr val="141A26"/>
                </a:solidFill>
                <a:latin typeface="Calibri"/>
              </a:rPr>
              <a:t>(aq)</a:t>
            </a:r>
            <a:r>
              <a:rPr sz="1500" b="0" i="0">
                <a:solidFill>
                  <a:srgbClr val="141A26"/>
                </a:solidFill>
                <a:latin typeface="Calibri"/>
              </a:rPr>
              <a:t>  aqueux — molécules et ions dissous dans l'eau (hydratés). Ce n'est PAS un quatrième état de la matière, mais une notation très utilisée en chimie.</a:t>
            </a:r>
          </a:p>
        </p:txBody>
      </p:sp>
      <p:sp>
        <p:nvSpPr>
          <p:cNvPr id="16" name="TextBox 15"/>
          <p:cNvSpPr txBox="1"/>
          <p:nvPr/>
        </p:nvSpPr>
        <p:spPr>
          <a:xfrm>
            <a:off x="406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556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8" name="Rectangle 17"/>
          <p:cNvSpPr/>
          <p:nvPr/>
        </p:nvSpPr>
        <p:spPr>
          <a:xfrm>
            <a:off x="6263999" y="1007999"/>
            <a:ext cx="5616000" cy="1508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63999" y="1007999"/>
            <a:ext cx="46800" cy="15084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5999" y="1108800"/>
            <a:ext cx="525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SYSTÈME CHIMIQUE</a:t>
            </a:r>
          </a:p>
        </p:txBody>
      </p:sp>
      <p:sp>
        <p:nvSpPr>
          <p:cNvPr id="21" name="TextBox 20"/>
          <p:cNvSpPr txBox="1"/>
          <p:nvPr/>
        </p:nvSpPr>
        <p:spPr>
          <a:xfrm>
            <a:off x="6425999" y="1350000"/>
            <a:ext cx="5292000" cy="10584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Un système chimique est un échantillon de matière décrit par différents paramètres : des grandeurs physiques (température, pression…), les espèces chimiques qui le constituent, leurs états physiques, leurs quantités de matière.</a:t>
            </a:r>
          </a:p>
        </p:txBody>
      </p:sp>
      <p:sp>
        <p:nvSpPr>
          <p:cNvPr id="22" name="TextBox 21"/>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3" name="Oval 22"/>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pic>
        <p:nvPicPr>
          <p:cNvPr id="24" name="Picture 23" descr="t1c2-solution-sulfate-cuivre.jpg"/>
          <p:cNvPicPr>
            <a:picLocks noChangeAspect="1"/>
          </p:cNvPicPr>
          <p:nvPr/>
        </p:nvPicPr>
        <p:blipFill>
          <a:blip r:embed="rId2"/>
          <a:stretch>
            <a:fillRect/>
          </a:stretch>
        </p:blipFill>
        <p:spPr>
          <a:xfrm>
            <a:off x="324000" y="3528000"/>
            <a:ext cx="1696858" cy="2160000"/>
          </a:xfrm>
          <a:prstGeom prst="rect">
            <a:avLst/>
          </a:prstGeom>
        </p:spPr>
      </p:pic>
      <p:sp>
        <p:nvSpPr>
          <p:cNvPr id="25" name="TextBox 24"/>
          <p:cNvSpPr txBox="1"/>
          <p:nvPr/>
        </p:nvSpPr>
        <p:spPr>
          <a:xfrm>
            <a:off x="3384000" y="3528000"/>
            <a:ext cx="8496000" cy="2232000"/>
          </a:xfrm>
          <a:prstGeom prst="rect">
            <a:avLst/>
          </a:prstGeom>
          <a:noFill/>
        </p:spPr>
        <p:txBody>
          <a:bodyPr wrap="square" anchor="t" lIns="0" rIns="0" tIns="0" bIns="0">
            <a:spAutoFit/>
          </a:bodyPr>
          <a:lstStyle/>
          <a:p>
            <a:pPr algn="l">
              <a:lnSpc>
                <a:spcPct val="120000"/>
              </a:lnSpc>
              <a:spcAft>
                <a:spcPts val="800"/>
              </a:spcAft>
            </a:pPr>
            <a:r>
              <a:rPr sz="1400" b="0" i="0">
                <a:solidFill>
                  <a:srgbClr val="141A26"/>
                </a:solidFill>
                <a:latin typeface="Calibri"/>
              </a:rPr>
              <a:t>Image 8 — Solution aqueuse de sulfate de cuivre.</a:t>
            </a:r>
          </a:p>
          <a:p>
            <a:pPr algn="l">
              <a:lnSpc>
                <a:spcPct val="120000"/>
              </a:lnSpc>
              <a:spcAft>
                <a:spcPts val="800"/>
              </a:spcAft>
            </a:pPr>
            <a:r>
              <a:rPr sz="1400" b="0" i="0">
                <a:solidFill>
                  <a:srgbClr val="141A26"/>
                </a:solidFill>
                <a:latin typeface="Calibri"/>
              </a:rPr>
              <a:t>Description qualitative : température 20 °C, pression 1 bar, ions cuivre (II) Cu²⁺(aq), ions sulfate SO₄²⁻(aq), eau H₂O(l).</a:t>
            </a:r>
          </a:p>
          <a:p>
            <a:pPr algn="l">
              <a:lnSpc>
                <a:spcPct val="120000"/>
              </a:lnSpc>
              <a:spcAft>
                <a:spcPts val="800"/>
              </a:spcAft>
            </a:pPr>
            <a:r>
              <a:rPr sz="1400" b="0" i="0">
                <a:solidFill>
                  <a:srgbClr val="141A26"/>
                </a:solidFill>
                <a:latin typeface="Calibri"/>
              </a:rPr>
              <a:t>Description quantitative : il faut en plus connaître les quantités de matière de chaque espèce.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C — Représenter une transformation chimique</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15</a:t>
            </a:r>
          </a:p>
        </p:txBody>
      </p:sp>
      <p:sp>
        <p:nvSpPr>
          <p:cNvPr id="12" name="Rectangle 11"/>
          <p:cNvSpPr/>
          <p:nvPr/>
        </p:nvSpPr>
        <p:spPr>
          <a:xfrm>
            <a:off x="324000" y="1007999"/>
            <a:ext cx="5903999" cy="212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2124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5543999"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DÉFINITIONS — ÉTAT INITIAL, ÉTAT FINAL, RÉACTIFS, PRODUITS</a:t>
            </a:r>
          </a:p>
        </p:txBody>
      </p:sp>
      <p:sp>
        <p:nvSpPr>
          <p:cNvPr id="15" name="TextBox 14"/>
          <p:cNvSpPr txBox="1"/>
          <p:nvPr/>
        </p:nvSpPr>
        <p:spPr>
          <a:xfrm>
            <a:off x="486000" y="1350000"/>
            <a:ext cx="5579999" cy="1674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L'état initial du système chimique est son état avant la transformation ; l'état final, son état après.</a:t>
            </a:r>
          </a:p>
          <a:p>
            <a:pPr algn="l">
              <a:lnSpc>
                <a:spcPct val="115000"/>
              </a:lnSpc>
              <a:spcAft>
                <a:spcPts val="600"/>
              </a:spcAft>
            </a:pPr>
            <a:r>
              <a:rPr sz="1500" b="0" i="0">
                <a:solidFill>
                  <a:srgbClr val="141A26"/>
                </a:solidFill>
                <a:latin typeface="Calibri"/>
              </a:rPr>
              <a:t>Les espèces introduites à l'état initial sont les réactifs ; celles obtenues à l'état final sont les produits.</a:t>
            </a:r>
          </a:p>
          <a:p>
            <a:pPr algn="l">
              <a:lnSpc>
                <a:spcPct val="115000"/>
              </a:lnSpc>
              <a:spcAft>
                <a:spcPts val="600"/>
              </a:spcAft>
            </a:pPr>
            <a:r>
              <a:rPr sz="1500" b="0" i="0">
                <a:solidFill>
                  <a:srgbClr val="141A26"/>
                </a:solidFill>
                <a:latin typeface="Calibri"/>
              </a:rPr>
              <a:t>Une espèce présente mais qui ne subit aucune modification est une espèce spectatrice.</a:t>
            </a:r>
          </a:p>
        </p:txBody>
      </p:sp>
      <p:sp>
        <p:nvSpPr>
          <p:cNvPr id="16" name="TextBox 15"/>
          <p:cNvSpPr txBox="1"/>
          <p:nvPr/>
        </p:nvSpPr>
        <p:spPr>
          <a:xfrm>
            <a:off x="4355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5849999"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pic>
        <p:nvPicPr>
          <p:cNvPr id="18" name="Picture 17" descr="t1c2-experience-argent-cuivre.jpg"/>
          <p:cNvPicPr>
            <a:picLocks noChangeAspect="1"/>
          </p:cNvPicPr>
          <p:nvPr/>
        </p:nvPicPr>
        <p:blipFill>
          <a:blip r:embed="rId2"/>
          <a:stretch>
            <a:fillRect/>
          </a:stretch>
        </p:blipFill>
        <p:spPr>
          <a:xfrm>
            <a:off x="6552000" y="1007999"/>
            <a:ext cx="5328000" cy="4040648"/>
          </a:xfrm>
          <a:prstGeom prst="rect">
            <a:avLst/>
          </a:prstGeom>
        </p:spPr>
      </p:pic>
      <p:sp>
        <p:nvSpPr>
          <p:cNvPr id="19" name="TextBox 18"/>
          <p:cNvSpPr txBox="1"/>
          <p:nvPr/>
        </p:nvSpPr>
        <p:spPr>
          <a:xfrm>
            <a:off x="6552000" y="4176000"/>
            <a:ext cx="5328000" cy="1655999"/>
          </a:xfrm>
          <a:prstGeom prst="rect">
            <a:avLst/>
          </a:prstGeom>
          <a:noFill/>
        </p:spPr>
        <p:txBody>
          <a:bodyPr wrap="square" anchor="t" lIns="0" rIns="0" tIns="0" bIns="0">
            <a:spAutoFit/>
          </a:bodyPr>
          <a:lstStyle/>
          <a:p>
            <a:pPr algn="l">
              <a:lnSpc>
                <a:spcPct val="120000"/>
              </a:lnSpc>
              <a:spcAft>
                <a:spcPts val="500"/>
              </a:spcAft>
            </a:pPr>
            <a:r>
              <a:rPr sz="1200" b="0" i="0">
                <a:solidFill>
                  <a:srgbClr val="6B6F7A"/>
                </a:solidFill>
                <a:latin typeface="Courier New"/>
              </a:rPr>
              <a:t>Image 9 — Du cuivre dans une solution de nitrate d'argent, à 20 °C et 1 bar.</a:t>
            </a:r>
          </a:p>
          <a:p>
            <a:pPr algn="l">
              <a:lnSpc>
                <a:spcPct val="120000"/>
              </a:lnSpc>
              <a:spcAft>
                <a:spcPts val="500"/>
              </a:spcAft>
            </a:pPr>
            <a:r>
              <a:rPr sz="1200" b="0" i="0">
                <a:solidFill>
                  <a:srgbClr val="6B6F7A"/>
                </a:solidFill>
                <a:latin typeface="Courier New"/>
              </a:rPr>
              <a:t>État initial : n(Cu) = 1,0 mol · n(Ag⁺) = n(NO₃⁻) = 0,1 mol.</a:t>
            </a:r>
          </a:p>
          <a:p>
            <a:pPr algn="l">
              <a:lnSpc>
                <a:spcPct val="120000"/>
              </a:lnSpc>
              <a:spcAft>
                <a:spcPts val="500"/>
              </a:spcAft>
            </a:pPr>
            <a:r>
              <a:rPr sz="1200" b="0" i="0">
                <a:solidFill>
                  <a:srgbClr val="6B6F7A"/>
                </a:solidFill>
                <a:latin typeface="Courier New"/>
              </a:rPr>
              <a:t>État final : n(Ag) = 0,1 mol · n(Cu²⁺) = 0,05 mol · n(Cu) = 0,95 mol · NO₃⁻ spectateur.</a:t>
            </a:r>
          </a:p>
        </p:txBody>
      </p:sp>
      <p:sp>
        <p:nvSpPr>
          <p:cNvPr id="20" name="TextBox 19"/>
          <p:cNvSpPr txBox="1"/>
          <p:nvPr/>
        </p:nvSpPr>
        <p:spPr>
          <a:xfrm>
            <a:off x="324000" y="3330000"/>
            <a:ext cx="5903999" cy="1728000"/>
          </a:xfrm>
          <a:prstGeom prst="rect">
            <a:avLst/>
          </a:prstGeom>
          <a:noFill/>
        </p:spPr>
        <p:txBody>
          <a:bodyPr wrap="square" anchor="t" lIns="0" rIns="0" tIns="0" bIns="0">
            <a:spAutoFit/>
          </a:bodyPr>
          <a:lstStyle/>
          <a:p>
            <a:pPr algn="l">
              <a:lnSpc>
                <a:spcPct val="100000"/>
              </a:lnSpc>
            </a:pPr>
            <a:r>
              <a:rPr sz="1700" b="0" i="1">
                <a:solidFill>
                  <a:srgbClr val="141A26"/>
                </a:solidFill>
                <a:latin typeface="Calibri"/>
              </a:rPr>
              <a:t>La transformation chimique est le passage de l'état initial à l'état final.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D — Lois de conservation</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16</a:t>
            </a:r>
          </a:p>
        </p:txBody>
      </p:sp>
      <p:sp>
        <p:nvSpPr>
          <p:cNvPr id="12" name="Rectangle 11"/>
          <p:cNvSpPr/>
          <p:nvPr/>
        </p:nvSpPr>
        <p:spPr>
          <a:xfrm>
            <a:off x="324000" y="1007999"/>
            <a:ext cx="11556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1044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11196000" cy="180000"/>
          </a:xfrm>
          <a:prstGeom prst="rect">
            <a:avLst/>
          </a:prstGeom>
          <a:noFill/>
        </p:spPr>
        <p:txBody>
          <a:bodyPr wrap="square" anchor="t" lIns="0" rIns="0" tIns="0" bIns="0">
            <a:spAutoFit/>
          </a:bodyPr>
          <a:lstStyle/>
          <a:p>
            <a:pPr algn="l">
              <a:lnSpc>
                <a:spcPct val="100000"/>
              </a:lnSpc>
            </a:pPr>
            <a:r>
              <a:rPr sz="1000" b="1" i="0">
                <a:solidFill>
                  <a:srgbClr val="4A3F9E"/>
                </a:solidFill>
                <a:latin typeface="Courier New"/>
              </a:rPr>
              <a:t>PROPRIÉTÉ — LES DEUX LOIS DE CONSERVATION</a:t>
            </a:r>
          </a:p>
        </p:txBody>
      </p:sp>
      <p:sp>
        <p:nvSpPr>
          <p:cNvPr id="15" name="TextBox 14"/>
          <p:cNvSpPr txBox="1"/>
          <p:nvPr/>
        </p:nvSpPr>
        <p:spPr>
          <a:xfrm>
            <a:off x="486000" y="1350000"/>
            <a:ext cx="11232000" cy="594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Au cours d'une transformation chimique, il y a conservation des éléments chimiques (nature et quantités), et conservation de la charge électrique globale.</a:t>
            </a:r>
          </a:p>
        </p:txBody>
      </p:sp>
      <p:sp>
        <p:nvSpPr>
          <p:cNvPr id="16" name="TextBox 15"/>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pic>
        <p:nvPicPr>
          <p:cNvPr id="18" name="Picture 17" descr="t1c2-lavoisier-david.jpg"/>
          <p:cNvPicPr>
            <a:picLocks noChangeAspect="1"/>
          </p:cNvPicPr>
          <p:nvPr/>
        </p:nvPicPr>
        <p:blipFill>
          <a:blip r:embed="rId2"/>
          <a:stretch>
            <a:fillRect/>
          </a:stretch>
        </p:blipFill>
        <p:spPr>
          <a:xfrm>
            <a:off x="324000" y="2736000"/>
            <a:ext cx="2322000" cy="3096000"/>
          </a:xfrm>
          <a:prstGeom prst="rect">
            <a:avLst/>
          </a:prstGeom>
        </p:spPr>
      </p:pic>
      <p:sp>
        <p:nvSpPr>
          <p:cNvPr id="19" name="TextBox 18"/>
          <p:cNvSpPr txBox="1"/>
          <p:nvPr/>
        </p:nvSpPr>
        <p:spPr>
          <a:xfrm>
            <a:off x="3024000" y="2736000"/>
            <a:ext cx="8856000" cy="3096000"/>
          </a:xfrm>
          <a:prstGeom prst="rect">
            <a:avLst/>
          </a:prstGeom>
          <a:noFill/>
        </p:spPr>
        <p:txBody>
          <a:bodyPr wrap="square" anchor="t" lIns="0" rIns="0" tIns="0" bIns="0">
            <a:spAutoFit/>
          </a:bodyPr>
          <a:lstStyle/>
          <a:p>
            <a:pPr algn="l">
              <a:lnSpc>
                <a:spcPct val="120000"/>
              </a:lnSpc>
              <a:spcAft>
                <a:spcPts val="800"/>
              </a:spcAft>
            </a:pPr>
            <a:r>
              <a:rPr sz="1500" b="0" i="0">
                <a:solidFill>
                  <a:srgbClr val="141A26"/>
                </a:solidFill>
                <a:latin typeface="Calibri"/>
              </a:rPr>
              <a:t>Antoine de Lavoisier (1743 – 1794), père de la chimie moderne</a:t>
            </a:r>
          </a:p>
          <a:p>
            <a:pPr algn="l">
              <a:lnSpc>
                <a:spcPct val="120000"/>
              </a:lnSpc>
              <a:spcAft>
                <a:spcPts val="800"/>
              </a:spcAft>
            </a:pPr>
            <a:r>
              <a:rPr sz="1500" b="0" i="0">
                <a:solidFill>
                  <a:srgbClr val="141A26"/>
                </a:solidFill>
                <a:latin typeface="Calibri"/>
              </a:rPr>
              <a:t>Entre 1783 et 1785, Lavoisier décompose l'eau puis la recompose : elle n'est pas un élément, mais un composé d'hydrogène et d'oxygène.</a:t>
            </a:r>
          </a:p>
          <a:p>
            <a:pPr algn="l">
              <a:lnSpc>
                <a:spcPct val="120000"/>
              </a:lnSpc>
              <a:spcAft>
                <a:spcPts val="800"/>
              </a:spcAft>
            </a:pPr>
            <a:r>
              <a:rPr sz="2000" b="1" i="0">
                <a:solidFill>
                  <a:srgbClr val="141A26"/>
                </a:solidFill>
                <a:latin typeface="Cambria"/>
              </a:rPr>
              <a:t>2 H₂O (l)   →   2 H₂ (g)  +  O₂ (g)</a:t>
            </a:r>
          </a:p>
          <a:p>
            <a:pPr algn="l">
              <a:lnSpc>
                <a:spcPct val="120000"/>
              </a:lnSpc>
              <a:spcAft>
                <a:spcPts val="800"/>
              </a:spcAft>
            </a:pPr>
            <a:r>
              <a:rPr sz="1500" b="0" i="0">
                <a:solidFill>
                  <a:srgbClr val="141A26"/>
                </a:solidFill>
                <a:latin typeface="Calibri"/>
              </a:rPr>
              <a:t>4 atomes d'hydrogène et 2 atomes d'oxygène de chaque côté ; les deux états sont électriquement neutres.</a:t>
            </a:r>
          </a:p>
          <a:p>
            <a:pPr algn="l">
              <a:lnSpc>
                <a:spcPct val="120000"/>
              </a:lnSpc>
              <a:spcAft>
                <a:spcPts val="800"/>
              </a:spcAft>
            </a:pPr>
            <a:r>
              <a:rPr sz="1500" b="0" i="1">
                <a:solidFill>
                  <a:srgbClr val="6B6F7A"/>
                </a:solidFill>
                <a:latin typeface="Calibri"/>
              </a:rPr>
              <a:t>« Rien ne se perd, rien ne se crée, tout se transforme.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E — Équation de réaction chimique</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17</a:t>
            </a:r>
          </a:p>
        </p:txBody>
      </p:sp>
      <p:sp>
        <p:nvSpPr>
          <p:cNvPr id="12" name="Rectangle 11"/>
          <p:cNvSpPr/>
          <p:nvPr/>
        </p:nvSpPr>
        <p:spPr>
          <a:xfrm>
            <a:off x="324000" y="1007999"/>
            <a:ext cx="5616000" cy="3131999"/>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3131999"/>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525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RÉACTION CHIMIQUE ET ÉQUATION</a:t>
            </a:r>
          </a:p>
        </p:txBody>
      </p:sp>
      <p:sp>
        <p:nvSpPr>
          <p:cNvPr id="15" name="TextBox 14"/>
          <p:cNvSpPr txBox="1"/>
          <p:nvPr/>
        </p:nvSpPr>
        <p:spPr>
          <a:xfrm>
            <a:off x="486000" y="1350000"/>
            <a:ext cx="5292000" cy="2681999"/>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Une réaction chimique est un processus modélisant une transformation chimique au niveau microscopique. Elle est décrite par une équation de réaction, dont l'écriture symbolique contient :</a:t>
            </a:r>
          </a:p>
          <a:p>
            <a:pPr algn="l">
              <a:lnSpc>
                <a:spcPct val="115000"/>
              </a:lnSpc>
              <a:spcAft>
                <a:spcPts val="600"/>
              </a:spcAft>
            </a:pPr>
            <a:r>
              <a:rPr sz="1500" b="0" i="0">
                <a:solidFill>
                  <a:srgbClr val="141A26"/>
                </a:solidFill>
                <a:latin typeface="Calibri"/>
              </a:rPr>
              <a:t>— les formules brutes et les états physiques des réactifs (à gauche) et des produits (à droite) ;</a:t>
            </a:r>
          </a:p>
          <a:p>
            <a:pPr algn="l">
              <a:lnSpc>
                <a:spcPct val="115000"/>
              </a:lnSpc>
              <a:spcAft>
                <a:spcPts val="600"/>
              </a:spcAft>
            </a:pPr>
            <a:r>
              <a:rPr sz="1500" b="0" i="0">
                <a:solidFill>
                  <a:srgbClr val="141A26"/>
                </a:solidFill>
                <a:latin typeface="Calibri"/>
              </a:rPr>
              <a:t>— une flèche symbolisant l'évolution du système ;</a:t>
            </a:r>
          </a:p>
          <a:p>
            <a:pPr algn="l">
              <a:lnSpc>
                <a:spcPct val="115000"/>
              </a:lnSpc>
              <a:spcAft>
                <a:spcPts val="600"/>
              </a:spcAft>
            </a:pPr>
            <a:r>
              <a:rPr sz="1500" b="0" i="0">
                <a:solidFill>
                  <a:srgbClr val="141A26"/>
                </a:solidFill>
                <a:latin typeface="Calibri"/>
              </a:rPr>
              <a:t>— des coefficients respectant les deux lois de conservation, appelés coefficients stœchiométriques lorsqu'ils sont les plus petits possibles.</a:t>
            </a:r>
          </a:p>
        </p:txBody>
      </p:sp>
      <p:sp>
        <p:nvSpPr>
          <p:cNvPr id="16" name="TextBox 15"/>
          <p:cNvSpPr txBox="1"/>
          <p:nvPr/>
        </p:nvSpPr>
        <p:spPr>
          <a:xfrm>
            <a:off x="406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556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8" name="Rectangle 17"/>
          <p:cNvSpPr/>
          <p:nvPr/>
        </p:nvSpPr>
        <p:spPr>
          <a:xfrm>
            <a:off x="6263999" y="1007999"/>
            <a:ext cx="5616000" cy="24336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63999" y="1007999"/>
            <a:ext cx="46800" cy="2433600"/>
          </a:xfrm>
          <a:prstGeom prst="rect">
            <a:avLst/>
          </a:prstGeom>
          <a:solidFill>
            <a:srgbClr val="B28A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5999" y="1108800"/>
            <a:ext cx="5256000" cy="180000"/>
          </a:xfrm>
          <a:prstGeom prst="rect">
            <a:avLst/>
          </a:prstGeom>
          <a:noFill/>
        </p:spPr>
        <p:txBody>
          <a:bodyPr wrap="square" anchor="t" lIns="0" rIns="0" tIns="0" bIns="0">
            <a:spAutoFit/>
          </a:bodyPr>
          <a:lstStyle/>
          <a:p>
            <a:pPr algn="l">
              <a:lnSpc>
                <a:spcPct val="100000"/>
              </a:lnSpc>
            </a:pPr>
            <a:r>
              <a:rPr sz="1000" b="1" i="0">
                <a:solidFill>
                  <a:srgbClr val="B28A1D"/>
                </a:solidFill>
                <a:latin typeface="Courier New"/>
              </a:rPr>
              <a:t>MÉTHODE — ÉCRIRE ET ÉQUILIBRER UNE ÉQUATION</a:t>
            </a:r>
          </a:p>
        </p:txBody>
      </p:sp>
      <p:sp>
        <p:nvSpPr>
          <p:cNvPr id="21" name="TextBox 20"/>
          <p:cNvSpPr txBox="1"/>
          <p:nvPr/>
        </p:nvSpPr>
        <p:spPr>
          <a:xfrm>
            <a:off x="6425999" y="1350000"/>
            <a:ext cx="5292000" cy="19836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I.   Identifier les réactifs et les produits.</a:t>
            </a:r>
          </a:p>
          <a:p>
            <a:pPr algn="l">
              <a:lnSpc>
                <a:spcPct val="115000"/>
              </a:lnSpc>
              <a:spcAft>
                <a:spcPts val="600"/>
              </a:spcAft>
            </a:pPr>
            <a:r>
              <a:rPr sz="1500" b="0" i="0">
                <a:solidFill>
                  <a:srgbClr val="141A26"/>
                </a:solidFill>
                <a:latin typeface="Calibri"/>
              </a:rPr>
              <a:t>II.  Écrire leurs formules brutes, avec leur état physique, de part et d'autre de la flèche.</a:t>
            </a:r>
          </a:p>
          <a:p>
            <a:pPr algn="l">
              <a:lnSpc>
                <a:spcPct val="115000"/>
              </a:lnSpc>
              <a:spcAft>
                <a:spcPts val="600"/>
              </a:spcAft>
            </a:pPr>
            <a:r>
              <a:rPr sz="1500" b="0" i="0">
                <a:solidFill>
                  <a:srgbClr val="141A26"/>
                </a:solidFill>
                <a:latin typeface="Calibri"/>
              </a:rPr>
              <a:t>III. Compter chaque élément des deux côtés et placer des coefficients, en commençant par l'élément le moins présent.</a:t>
            </a:r>
          </a:p>
          <a:p>
            <a:pPr algn="l">
              <a:lnSpc>
                <a:spcPct val="115000"/>
              </a:lnSpc>
              <a:spcAft>
                <a:spcPts val="600"/>
              </a:spcAft>
            </a:pPr>
            <a:r>
              <a:rPr sz="1500" b="0" i="0">
                <a:solidFill>
                  <a:srgbClr val="141A26"/>
                </a:solidFill>
                <a:latin typeface="Calibri"/>
              </a:rPr>
              <a:t>IV.  Vérifier que les charges sont équilibrées.</a:t>
            </a:r>
          </a:p>
        </p:txBody>
      </p:sp>
      <p:sp>
        <p:nvSpPr>
          <p:cNvPr id="22" name="TextBox 21"/>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3" name="Oval 22"/>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4" name="Rectangle 23"/>
          <p:cNvSpPr/>
          <p:nvPr/>
        </p:nvSpPr>
        <p:spPr>
          <a:xfrm>
            <a:off x="324000" y="4338000"/>
            <a:ext cx="11556000" cy="14004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24000" y="4338000"/>
            <a:ext cx="46800" cy="14004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000" y="4438800"/>
            <a:ext cx="1119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10 — TEST DE RECONNAISSANCE DES IONS FER (II)</a:t>
            </a:r>
          </a:p>
        </p:txBody>
      </p:sp>
      <p:sp>
        <p:nvSpPr>
          <p:cNvPr id="27" name="TextBox 26"/>
          <p:cNvSpPr txBox="1"/>
          <p:nvPr/>
        </p:nvSpPr>
        <p:spPr>
          <a:xfrm>
            <a:off x="486000" y="4680000"/>
            <a:ext cx="11232000" cy="9504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Les ions fer (II) réagissent avec les ions hydroxyde de la soude pour former un précipité vert d'hydroxyde de fer (II). Identifier réactifs, produits et coefficients stœchiométriques, puis vérifier les deux lois.</a:t>
            </a:r>
          </a:p>
          <a:p>
            <a:pPr algn="l">
              <a:lnSpc>
                <a:spcPct val="115000"/>
              </a:lnSpc>
              <a:spcAft>
                <a:spcPts val="600"/>
              </a:spcAft>
            </a:pPr>
            <a:r>
              <a:rPr sz="1800" b="1" i="0">
                <a:solidFill>
                  <a:srgbClr val="141A26"/>
                </a:solidFill>
                <a:latin typeface="Cambria"/>
              </a:rPr>
              <a:t>Fe²⁺(aq)  +  2 HO⁻(aq)   →   Fe(OH)₂ (s)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00"/>
                                        <p:tgtEl>
                                          <p:spTgt spid="2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7"/>
                                        </p:tgtEl>
                                        <p:attrNameLst>
                                          <p:attrName>style.visibility</p:attrName>
                                        </p:attrNameLst>
                                      </p:cBhvr>
                                      <p:to>
                                        <p:strVal val="visible"/>
                                      </p:to>
                                    </p:set>
                                    <p:animEffect transition="in" filter="fade">
                                      <p:cBhvr>
                                        <p:cTn id="56"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E — S'entraîner à équilibrer</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18</a:t>
            </a:r>
          </a:p>
        </p:txBody>
      </p:sp>
      <p:sp>
        <p:nvSpPr>
          <p:cNvPr id="12" name="Rectangle 11"/>
          <p:cNvSpPr/>
          <p:nvPr/>
        </p:nvSpPr>
        <p:spPr>
          <a:xfrm>
            <a:off x="324000" y="1080000"/>
            <a:ext cx="11556000" cy="24768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80000"/>
            <a:ext cx="46800" cy="24768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80800"/>
            <a:ext cx="1119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11 — ÉQUILIBRER DES ÉQUATIONS DE RÉACTION</a:t>
            </a:r>
          </a:p>
        </p:txBody>
      </p:sp>
      <p:sp>
        <p:nvSpPr>
          <p:cNvPr id="15" name="TextBox 14"/>
          <p:cNvSpPr txBox="1"/>
          <p:nvPr/>
        </p:nvSpPr>
        <p:spPr>
          <a:xfrm>
            <a:off x="486000" y="1422000"/>
            <a:ext cx="11232000" cy="20268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Équilibrer ces équations de réaction en ajoutant les coefficients stœchiométriques manquants.</a:t>
            </a:r>
          </a:p>
          <a:p>
            <a:pPr algn="l">
              <a:lnSpc>
                <a:spcPct val="115000"/>
              </a:lnSpc>
              <a:spcAft>
                <a:spcPts val="600"/>
              </a:spcAft>
            </a:pPr>
            <a:r>
              <a:rPr sz="2200" b="0" i="0">
                <a:solidFill>
                  <a:srgbClr val="141A26"/>
                </a:solidFill>
                <a:latin typeface="Cambria"/>
              </a:rPr>
              <a:t>H⁺  +  Fe   →   H₂  +  Fe²⁺</a:t>
            </a:r>
          </a:p>
          <a:p>
            <a:pPr algn="l">
              <a:lnSpc>
                <a:spcPct val="115000"/>
              </a:lnSpc>
              <a:spcAft>
                <a:spcPts val="600"/>
              </a:spcAft>
            </a:pPr>
            <a:r>
              <a:rPr sz="2200" b="0" i="0">
                <a:solidFill>
                  <a:srgbClr val="141A26"/>
                </a:solidFill>
                <a:latin typeface="Cambria"/>
              </a:rPr>
              <a:t>Cu²⁺  +  HO⁻   →   Cu(HO)₂</a:t>
            </a:r>
          </a:p>
          <a:p>
            <a:pPr algn="l">
              <a:lnSpc>
                <a:spcPct val="115000"/>
              </a:lnSpc>
              <a:spcAft>
                <a:spcPts val="600"/>
              </a:spcAft>
            </a:pPr>
            <a:r>
              <a:rPr sz="2200" b="0" i="0">
                <a:solidFill>
                  <a:srgbClr val="141A26"/>
                </a:solidFill>
                <a:latin typeface="Cambria"/>
              </a:rPr>
              <a:t>CaCO₃  +  H⁺   →   Ca²⁺  +  HCO₃⁻</a:t>
            </a:r>
          </a:p>
          <a:p>
            <a:pPr algn="l">
              <a:lnSpc>
                <a:spcPct val="115000"/>
              </a:lnSpc>
              <a:spcAft>
                <a:spcPts val="600"/>
              </a:spcAft>
            </a:pPr>
            <a:r>
              <a:rPr sz="2200" b="0" i="0">
                <a:solidFill>
                  <a:srgbClr val="141A26"/>
                </a:solidFill>
                <a:latin typeface="Cambria"/>
              </a:rPr>
              <a:t>CH₄  +  O₂   →   H₂O  +  CO₂</a:t>
            </a:r>
          </a:p>
        </p:txBody>
      </p:sp>
      <p:sp>
        <p:nvSpPr>
          <p:cNvPr id="16" name="Rectangle 15"/>
          <p:cNvSpPr/>
          <p:nvPr/>
        </p:nvSpPr>
        <p:spPr>
          <a:xfrm>
            <a:off x="324000" y="3880800"/>
            <a:ext cx="11556000" cy="813599"/>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24000" y="3880800"/>
            <a:ext cx="46800" cy="813599"/>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6000" y="3981599"/>
            <a:ext cx="1119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12 — COMBUSTION DU GLUCOSE</a:t>
            </a:r>
          </a:p>
        </p:txBody>
      </p:sp>
      <p:sp>
        <p:nvSpPr>
          <p:cNvPr id="19" name="TextBox 18"/>
          <p:cNvSpPr txBox="1"/>
          <p:nvPr/>
        </p:nvSpPr>
        <p:spPr>
          <a:xfrm>
            <a:off x="486000" y="4222799"/>
            <a:ext cx="11232000" cy="363599"/>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Le glucose C₆H₁₂O₆ est dégradé comme dans une combustion complète dans le dioxygène : écrire et équilibrer l'équation.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F — Qu'est-ce que la stœchiométrie ?</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19</a:t>
            </a:r>
          </a:p>
        </p:txBody>
      </p:sp>
      <p:sp>
        <p:nvSpPr>
          <p:cNvPr id="12" name="Rectangle 11"/>
          <p:cNvSpPr/>
          <p:nvPr/>
        </p:nvSpPr>
        <p:spPr>
          <a:xfrm>
            <a:off x="324000" y="1007999"/>
            <a:ext cx="11556000" cy="16452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16452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11196000" cy="180000"/>
          </a:xfrm>
          <a:prstGeom prst="rect">
            <a:avLst/>
          </a:prstGeom>
          <a:noFill/>
        </p:spPr>
        <p:txBody>
          <a:bodyPr wrap="square" anchor="t" lIns="0" rIns="0" tIns="0" bIns="0">
            <a:spAutoFit/>
          </a:bodyPr>
          <a:lstStyle/>
          <a:p>
            <a:pPr algn="l">
              <a:lnSpc>
                <a:spcPct val="100000"/>
              </a:lnSpc>
            </a:pPr>
            <a:r>
              <a:rPr sz="1000" b="1" i="0">
                <a:solidFill>
                  <a:srgbClr val="4A3F9E"/>
                </a:solidFill>
                <a:latin typeface="Courier New"/>
              </a:rPr>
              <a:t>PROPRIÉTÉ — LIRE UNE ÉQUATION EN PROPORTIONS</a:t>
            </a:r>
          </a:p>
        </p:txBody>
      </p:sp>
      <p:sp>
        <p:nvSpPr>
          <p:cNvPr id="15" name="TextBox 14"/>
          <p:cNvSpPr txBox="1"/>
          <p:nvPr/>
        </p:nvSpPr>
        <p:spPr>
          <a:xfrm>
            <a:off x="486000" y="1350000"/>
            <a:ext cx="11232000" cy="11952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Au-delà de l'équilibrage, les nombres stœchiométriques ont un sens physique : à l'échelle microscopique, ils donnent les proportions, en nombre d'atomes, d'ions ou de molécules, dans lesquelles les réactifs réagissent et les produits se forment.</a:t>
            </a:r>
          </a:p>
          <a:p>
            <a:pPr algn="l">
              <a:lnSpc>
                <a:spcPct val="115000"/>
              </a:lnSpc>
              <a:spcAft>
                <a:spcPts val="600"/>
              </a:spcAft>
            </a:pPr>
            <a:r>
              <a:rPr sz="1900" b="1" i="0">
                <a:solidFill>
                  <a:srgbClr val="141A26"/>
                </a:solidFill>
                <a:latin typeface="Cambria"/>
              </a:rPr>
              <a:t>Cu (s)  +  2 Ag⁺(aq)   →   Cu²⁺(aq)  +  2 Ag (s)</a:t>
            </a:r>
          </a:p>
        </p:txBody>
      </p:sp>
      <p:sp>
        <p:nvSpPr>
          <p:cNvPr id="16" name="TextBox 15"/>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18" name="TextBox 17"/>
          <p:cNvSpPr txBox="1"/>
          <p:nvPr/>
        </p:nvSpPr>
        <p:spPr>
          <a:xfrm>
            <a:off x="324000" y="2851200"/>
            <a:ext cx="11556000" cy="503999"/>
          </a:xfrm>
          <a:prstGeom prst="rect">
            <a:avLst/>
          </a:prstGeom>
          <a:noFill/>
        </p:spPr>
        <p:txBody>
          <a:bodyPr wrap="square" anchor="t" lIns="0" rIns="0" tIns="0" bIns="0">
            <a:spAutoFit/>
          </a:bodyPr>
          <a:lstStyle/>
          <a:p>
            <a:pPr algn="l">
              <a:lnSpc>
                <a:spcPct val="100000"/>
              </a:lnSpc>
            </a:pPr>
            <a:r>
              <a:rPr sz="1600" b="0" i="1">
                <a:solidFill>
                  <a:srgbClr val="4A3F9E"/>
                </a:solidFill>
                <a:latin typeface="Calibri"/>
              </a:rPr>
              <a:t>« Si 1 atome de cuivre est consommé, alors 2 ions Ag⁺ le sont aussi, et il se forme 2 atomes d'argent et 1 ion Cu²⁺. »</a:t>
            </a:r>
          </a:p>
        </p:txBody>
      </p:sp>
      <p:sp>
        <p:nvSpPr>
          <p:cNvPr id="19" name="Rectangle 18"/>
          <p:cNvSpPr/>
          <p:nvPr/>
        </p:nvSpPr>
        <p:spPr>
          <a:xfrm>
            <a:off x="324000" y="3535200"/>
            <a:ext cx="5616000" cy="1278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24000" y="3535200"/>
            <a:ext cx="46800" cy="1278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000" y="3636000"/>
            <a:ext cx="525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13 — LECTURE MICROSCOPIQUE</a:t>
            </a:r>
          </a:p>
        </p:txBody>
      </p:sp>
      <p:sp>
        <p:nvSpPr>
          <p:cNvPr id="22" name="TextBox 21"/>
          <p:cNvSpPr txBox="1"/>
          <p:nvPr/>
        </p:nvSpPr>
        <p:spPr>
          <a:xfrm>
            <a:off x="486000" y="3877200"/>
            <a:ext cx="5292000" cy="827999"/>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Soit CH₄ + 2 O₂ → 2 H₂O + CO₂. Combien de molécules de chaque réactif sont consommées, et de chaque produit formées ? Rédiger une phrase sur le modèle « si … alors … ».</a:t>
            </a:r>
          </a:p>
        </p:txBody>
      </p:sp>
      <p:sp>
        <p:nvSpPr>
          <p:cNvPr id="23" name="Rectangle 22"/>
          <p:cNvSpPr/>
          <p:nvPr/>
        </p:nvSpPr>
        <p:spPr>
          <a:xfrm>
            <a:off x="6263999" y="3535200"/>
            <a:ext cx="5616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63999" y="3535200"/>
            <a:ext cx="46800" cy="1044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5999" y="3636000"/>
            <a:ext cx="525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14 — PROPORTIONS</a:t>
            </a:r>
          </a:p>
        </p:txBody>
      </p:sp>
      <p:sp>
        <p:nvSpPr>
          <p:cNvPr id="26" name="TextBox 25"/>
          <p:cNvSpPr txBox="1"/>
          <p:nvPr/>
        </p:nvSpPr>
        <p:spPr>
          <a:xfrm>
            <a:off x="6425999" y="3877200"/>
            <a:ext cx="5292000" cy="5940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Combien d'atomes d'argent sont produits si 5 atomes de cuivre réagissent avec 10 ions Ag⁺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00"/>
                                        <p:tgtEl>
                                          <p:spTgt spid="1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III</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Transformations chimiques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G — Réactif limitant</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20</a:t>
            </a:r>
          </a:p>
        </p:txBody>
      </p:sp>
      <p:sp>
        <p:nvSpPr>
          <p:cNvPr id="12" name="Rectangle 11"/>
          <p:cNvSpPr/>
          <p:nvPr/>
        </p:nvSpPr>
        <p:spPr>
          <a:xfrm>
            <a:off x="324000" y="1007999"/>
            <a:ext cx="11556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24000" y="1007999"/>
            <a:ext cx="46800" cy="1044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6000" y="1108800"/>
            <a:ext cx="11196000" cy="180000"/>
          </a:xfrm>
          <a:prstGeom prst="rect">
            <a:avLst/>
          </a:prstGeom>
          <a:noFill/>
        </p:spPr>
        <p:txBody>
          <a:bodyPr wrap="square" anchor="t" lIns="0" rIns="0" tIns="0" bIns="0">
            <a:spAutoFit/>
          </a:bodyPr>
          <a:lstStyle/>
          <a:p>
            <a:pPr algn="l">
              <a:lnSpc>
                <a:spcPct val="100000"/>
              </a:lnSpc>
            </a:pPr>
            <a:r>
              <a:rPr sz="1000" b="1" i="0">
                <a:solidFill>
                  <a:srgbClr val="1D9AAA"/>
                </a:solidFill>
                <a:latin typeface="Courier New"/>
              </a:rPr>
              <a:t>DÉFINITION — RÉACTIF LIMITANT</a:t>
            </a:r>
          </a:p>
        </p:txBody>
      </p:sp>
      <p:sp>
        <p:nvSpPr>
          <p:cNvPr id="15" name="TextBox 14"/>
          <p:cNvSpPr txBox="1"/>
          <p:nvPr/>
        </p:nvSpPr>
        <p:spPr>
          <a:xfrm>
            <a:off x="486000" y="1350000"/>
            <a:ext cx="11232000" cy="594000"/>
          </a:xfrm>
          <a:prstGeom prst="rect">
            <a:avLst/>
          </a:prstGeom>
          <a:noFill/>
        </p:spPr>
        <p:txBody>
          <a:bodyPr wrap="square" anchor="t" lIns="0" rIns="0" tIns="0" bIns="0">
            <a:spAutoFit/>
          </a:bodyPr>
          <a:lstStyle/>
          <a:p>
            <a:pPr algn="l">
              <a:lnSpc>
                <a:spcPct val="115000"/>
              </a:lnSpc>
              <a:spcAft>
                <a:spcPts val="600"/>
              </a:spcAft>
            </a:pPr>
            <a:r>
              <a:rPr sz="1500" b="0" i="0">
                <a:solidFill>
                  <a:srgbClr val="141A26"/>
                </a:solidFill>
                <a:latin typeface="Calibri"/>
              </a:rPr>
              <a:t>Le réactif limitant est le réactif qui est complètement consommé dans la réaction. Une fois consommé, il arrête la réaction et limite donc la quantité de produit fabriqué.</a:t>
            </a:r>
          </a:p>
        </p:txBody>
      </p:sp>
      <p:sp>
        <p:nvSpPr>
          <p:cNvPr id="16" name="TextBox 15"/>
          <p:cNvSpPr txBox="1"/>
          <p:nvPr/>
        </p:nvSpPr>
        <p:spPr>
          <a:xfrm>
            <a:off x="10007999" y="1137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17" name="Oval 16"/>
          <p:cNvSpPr/>
          <p:nvPr/>
        </p:nvSpPr>
        <p:spPr>
          <a:xfrm>
            <a:off x="11502000" y="1080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pic>
        <p:nvPicPr>
          <p:cNvPr id="18" name="Picture 17" descr="site-t1c2f9.png"/>
          <p:cNvPicPr>
            <a:picLocks noChangeAspect="1"/>
          </p:cNvPicPr>
          <p:nvPr/>
        </p:nvPicPr>
        <p:blipFill>
          <a:blip r:embed="rId2"/>
          <a:stretch>
            <a:fillRect/>
          </a:stretch>
        </p:blipFill>
        <p:spPr>
          <a:xfrm>
            <a:off x="2520000" y="2250000"/>
            <a:ext cx="7128000" cy="2160000"/>
          </a:xfrm>
          <a:prstGeom prst="rect">
            <a:avLst/>
          </a:prstGeom>
        </p:spPr>
      </p:pic>
      <p:sp>
        <p:nvSpPr>
          <p:cNvPr id="19" name="TextBox 18"/>
          <p:cNvSpPr txBox="1"/>
          <p:nvPr/>
        </p:nvSpPr>
        <p:spPr>
          <a:xfrm>
            <a:off x="2520000" y="4474800"/>
            <a:ext cx="7128000" cy="432000"/>
          </a:xfrm>
          <a:prstGeom prst="rect">
            <a:avLst/>
          </a:prstGeom>
          <a:noFill/>
        </p:spPr>
        <p:txBody>
          <a:bodyPr wrap="square" lIns="0" rIns="0" tIns="0" bIns="0">
            <a:spAutoFit/>
          </a:bodyPr>
          <a:lstStyle/>
          <a:p>
            <a:pPr>
              <a:lnSpc>
                <a:spcPct val="110000"/>
              </a:lnSpc>
            </a:pPr>
            <a:r>
              <a:rPr sz="1000" b="0" i="0">
                <a:solidFill>
                  <a:srgbClr val="6B6F7A"/>
                </a:solidFill>
                <a:latin typeface="Courier New"/>
              </a:rPr>
              <a:t>Image 10 — L'analogie du hot-dog : 5 saucisses, 4 pains, donc 4 hot-dogs. Le pain, entièrement consommé, est le réactif limitant ; la saucisse est en excès.</a:t>
            </a:r>
          </a:p>
        </p:txBody>
      </p:sp>
      <p:sp>
        <p:nvSpPr>
          <p:cNvPr id="20" name="TextBox 19"/>
          <p:cNvSpPr txBox="1"/>
          <p:nvPr/>
        </p:nvSpPr>
        <p:spPr>
          <a:xfrm>
            <a:off x="8297999" y="2289600"/>
            <a:ext cx="1440000" cy="180000"/>
          </a:xfrm>
          <a:prstGeom prst="rect">
            <a:avLst/>
          </a:prstGeom>
          <a:noFill/>
        </p:spPr>
        <p:txBody>
          <a:bodyPr wrap="square" anchor="t" lIns="0" rIns="0" tIns="0" bIns="0">
            <a:spAutoFit/>
          </a:bodyPr>
          <a:lstStyle/>
          <a:p>
            <a:pPr algn="r">
              <a:lnSpc>
                <a:spcPct val="100000"/>
              </a:lnSpc>
            </a:pPr>
            <a:r>
              <a:rPr sz="900" b="1" i="0">
                <a:solidFill>
                  <a:srgbClr val="B28A1D"/>
                </a:solidFill>
                <a:latin typeface="Courier New"/>
              </a:rPr>
              <a:t>SUR LA FICHE</a:t>
            </a:r>
          </a:p>
        </p:txBody>
      </p:sp>
      <p:sp>
        <p:nvSpPr>
          <p:cNvPr id="21" name="Oval 20"/>
          <p:cNvSpPr/>
          <p:nvPr/>
        </p:nvSpPr>
        <p:spPr>
          <a:xfrm>
            <a:off x="9792000" y="2232000"/>
            <a:ext cx="259200" cy="259200"/>
          </a:xfrm>
          <a:prstGeom prst="ellipse">
            <a:avLst/>
          </a:prstGeom>
          <a:solidFill>
            <a:srgbClr val="B28A1D"/>
          </a:solidFill>
          <a:ln>
            <a:solidFill>
              <a:srgbClr val="B28A1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a:solidFill>
                  <a:srgbClr val="FDFCF8"/>
                </a:solidFill>
                <a:latin typeface="Calibri"/>
              </a:rPr>
              <a:t>✎</a:t>
            </a:r>
          </a:p>
        </p:txBody>
      </p:sp>
      <p:sp>
        <p:nvSpPr>
          <p:cNvPr id="22" name="Rectangle 21"/>
          <p:cNvSpPr/>
          <p:nvPr/>
        </p:nvSpPr>
        <p:spPr>
          <a:xfrm>
            <a:off x="324000" y="4986000"/>
            <a:ext cx="11556000" cy="1044000"/>
          </a:xfrm>
          <a:prstGeom prst="rect">
            <a:avLst/>
          </a:prstGeom>
          <a:solidFill>
            <a:srgbClr val="FFFFFF"/>
          </a:solidFill>
          <a:ln w="9525">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24000" y="4986000"/>
            <a:ext cx="46800" cy="1044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6000" y="5086800"/>
            <a:ext cx="11196000" cy="180000"/>
          </a:xfrm>
          <a:prstGeom prst="rect">
            <a:avLst/>
          </a:prstGeom>
          <a:noFill/>
        </p:spPr>
        <p:txBody>
          <a:bodyPr wrap="square" anchor="t" lIns="0" rIns="0" tIns="0" bIns="0">
            <a:spAutoFit/>
          </a:bodyPr>
          <a:lstStyle/>
          <a:p>
            <a:pPr algn="l">
              <a:lnSpc>
                <a:spcPct val="100000"/>
              </a:lnSpc>
            </a:pPr>
            <a:r>
              <a:rPr sz="1000" b="1" i="0">
                <a:solidFill>
                  <a:srgbClr val="D6402B"/>
                </a:solidFill>
                <a:latin typeface="Courier New"/>
              </a:rPr>
              <a:t>EXERCICE 15 — COMBUSTION DU MÉTHANE</a:t>
            </a:r>
          </a:p>
        </p:txBody>
      </p:sp>
      <p:sp>
        <p:nvSpPr>
          <p:cNvPr id="25" name="TextBox 24"/>
          <p:cNvSpPr txBox="1"/>
          <p:nvPr/>
        </p:nvSpPr>
        <p:spPr>
          <a:xfrm>
            <a:off x="486000" y="5328000"/>
            <a:ext cx="11232000" cy="594000"/>
          </a:xfrm>
          <a:prstGeom prst="rect">
            <a:avLst/>
          </a:prstGeom>
          <a:noFill/>
        </p:spPr>
        <p:txBody>
          <a:bodyPr wrap="square" anchor="t" lIns="0" rIns="0" tIns="0" bIns="0">
            <a:spAutoFit/>
          </a:bodyPr>
          <a:lstStyle/>
          <a:p>
            <a:pPr algn="l">
              <a:lnSpc>
                <a:spcPct val="115000"/>
              </a:lnSpc>
              <a:spcAft>
                <a:spcPts val="600"/>
              </a:spcAft>
            </a:pPr>
            <a:r>
              <a:rPr sz="1500" b="0" i="1">
                <a:solidFill>
                  <a:srgbClr val="141A26"/>
                </a:solidFill>
                <a:latin typeface="Calibri"/>
              </a:rPr>
              <a:t>150 molécules de méthane réagissent avec 1000 molécules de dioxygène, selon CH₄ + 2 O₂ → 2 H₂O + CO₂. Déterminer le réactif limitant, puis le nombre de molécules présentes à la fin de la réaction.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DFCF8"/>
        </a:solidFill>
        <a:effectLst/>
      </p:bgPr>
    </p:bg>
    <p:spTree>
      <p:nvGrpSpPr>
        <p:cNvPr id="1" name=""/>
        <p:cNvGrpSpPr/>
        <p:nvPr/>
      </p:nvGrpSpPr>
      <p:grpSpPr/>
      <p:sp>
        <p:nvSpPr>
          <p:cNvPr id="2" name="Rectangle 1"/>
          <p:cNvSpPr/>
          <p:nvPr/>
        </p:nvSpPr>
        <p:spPr>
          <a:xfrm>
            <a:off x="0" y="0"/>
            <a:ext cx="12193200" cy="63000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11124000" y="0"/>
            <a:ext cx="43200" cy="630000"/>
          </a:xfrm>
          <a:prstGeom prst="rect">
            <a:avLst/>
          </a:prstGeom>
          <a:solidFill>
            <a:srgbClr val="4A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304000" y="0"/>
            <a:ext cx="43200" cy="630000"/>
          </a:xfrm>
          <a:prstGeom prst="rect">
            <a:avLst/>
          </a:prstGeom>
          <a:solidFill>
            <a:srgbClr val="1D9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484000" y="0"/>
            <a:ext cx="43200" cy="630000"/>
          </a:xfrm>
          <a:prstGeom prst="rect">
            <a:avLst/>
          </a:prstGeom>
          <a:solidFill>
            <a:srgbClr val="D64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4000" y="100800"/>
            <a:ext cx="1080000" cy="432000"/>
          </a:xfrm>
          <a:prstGeom prst="rect">
            <a:avLst/>
          </a:prstGeom>
          <a:noFill/>
        </p:spPr>
        <p:txBody>
          <a:bodyPr wrap="square" anchor="ctr" lIns="0" rIns="0" tIns="0" bIns="0">
            <a:spAutoFit/>
          </a:bodyPr>
          <a:lstStyle/>
          <a:p>
            <a:pPr algn="l">
              <a:lnSpc>
                <a:spcPct val="100000"/>
              </a:lnSpc>
            </a:pPr>
            <a:r>
              <a:rPr sz="2600" b="1" i="0">
                <a:solidFill>
                  <a:srgbClr val="FDFCF8"/>
                </a:solidFill>
                <a:latin typeface="Cambria"/>
              </a:rPr>
              <a:t>✓</a:t>
            </a:r>
          </a:p>
        </p:txBody>
      </p:sp>
      <p:sp>
        <p:nvSpPr>
          <p:cNvPr id="7" name="TextBox 6"/>
          <p:cNvSpPr txBox="1"/>
          <p:nvPr/>
        </p:nvSpPr>
        <p:spPr>
          <a:xfrm>
            <a:off x="1260000" y="108000"/>
            <a:ext cx="8640000" cy="251999"/>
          </a:xfrm>
          <a:prstGeom prst="rect">
            <a:avLst/>
          </a:prstGeom>
          <a:noFill/>
        </p:spPr>
        <p:txBody>
          <a:bodyPr wrap="square" anchor="t" lIns="0" rIns="0" tIns="0" bIns="0">
            <a:spAutoFit/>
          </a:bodyPr>
          <a:lstStyle/>
          <a:p>
            <a:pPr algn="l">
              <a:lnSpc>
                <a:spcPct val="100000"/>
              </a:lnSpc>
            </a:pPr>
            <a:r>
              <a:rPr sz="1700" b="1" i="0">
                <a:solidFill>
                  <a:srgbClr val="FDFCF8"/>
                </a:solidFill>
                <a:latin typeface="Cambria"/>
              </a:rPr>
              <a:t>Pour le DS, je sais</a:t>
            </a:r>
          </a:p>
        </p:txBody>
      </p:sp>
      <p:sp>
        <p:nvSpPr>
          <p:cNvPr id="8" name="TextBox 7"/>
          <p:cNvSpPr txBox="1"/>
          <p:nvPr/>
        </p:nvSpPr>
        <p:spPr>
          <a:xfrm>
            <a:off x="1260000" y="367200"/>
            <a:ext cx="8640000" cy="216000"/>
          </a:xfrm>
          <a:prstGeom prst="rect">
            <a:avLst/>
          </a:prstGeom>
          <a:noFill/>
        </p:spPr>
        <p:txBody>
          <a:bodyPr wrap="square" anchor="t" lIns="0" rIns="0" tIns="0" bIns="0">
            <a:spAutoFit/>
          </a:bodyPr>
          <a:lstStyle/>
          <a:p>
            <a:pPr algn="l">
              <a:lnSpc>
                <a:spcPct val="100000"/>
              </a:lnSpc>
            </a:pPr>
            <a:r>
              <a:rPr sz="1100" b="0" i="0">
                <a:solidFill>
                  <a:srgbClr val="C8C4B8"/>
                </a:solidFill>
                <a:latin typeface="Courier New"/>
              </a:rPr>
              <a:t>les huit compétences du chapitre</a:t>
            </a:r>
          </a:p>
        </p:txBody>
      </p:sp>
      <p:sp>
        <p:nvSpPr>
          <p:cNvPr id="9" name="Rectangle 8"/>
          <p:cNvSpPr/>
          <p:nvPr/>
        </p:nvSpPr>
        <p:spPr>
          <a:xfrm>
            <a:off x="324000" y="6263999"/>
            <a:ext cx="11545200" cy="14400"/>
          </a:xfrm>
          <a:prstGeom prst="rect">
            <a:avLst/>
          </a:prstGeom>
          <a:solidFill>
            <a:srgbClr val="E8E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6336000"/>
            <a:ext cx="8640000" cy="216000"/>
          </a:xfrm>
          <a:prstGeom prst="rect">
            <a:avLst/>
          </a:prstGeom>
          <a:noFill/>
        </p:spPr>
        <p:txBody>
          <a:bodyPr wrap="square" anchor="t" lIns="0" rIns="0" tIns="0" bIns="0">
            <a:spAutoFit/>
          </a:bodyPr>
          <a:lstStyle/>
          <a:p>
            <a:pPr algn="l">
              <a:lnSpc>
                <a:spcPct val="100000"/>
              </a:lnSpc>
            </a:pPr>
            <a:r>
              <a:rPr sz="1000" b="0" i="0">
                <a:solidFill>
                  <a:srgbClr val="6B6F7A"/>
                </a:solidFill>
                <a:latin typeface="Courier New"/>
              </a:rPr>
              <a:t>Thème 1 · Chapitre 2 — Transformations physiques et chimiques</a:t>
            </a:r>
          </a:p>
        </p:txBody>
      </p:sp>
      <p:sp>
        <p:nvSpPr>
          <p:cNvPr id="11" name="TextBox 10"/>
          <p:cNvSpPr txBox="1"/>
          <p:nvPr/>
        </p:nvSpPr>
        <p:spPr>
          <a:xfrm>
            <a:off x="10429200" y="6336000"/>
            <a:ext cx="1440000" cy="216000"/>
          </a:xfrm>
          <a:prstGeom prst="rect">
            <a:avLst/>
          </a:prstGeom>
          <a:noFill/>
        </p:spPr>
        <p:txBody>
          <a:bodyPr wrap="square" anchor="t" lIns="0" rIns="0" tIns="0" bIns="0">
            <a:spAutoFit/>
          </a:bodyPr>
          <a:lstStyle/>
          <a:p>
            <a:pPr algn="r">
              <a:lnSpc>
                <a:spcPct val="100000"/>
              </a:lnSpc>
            </a:pPr>
            <a:r>
              <a:rPr sz="1000" b="0" i="0">
                <a:solidFill>
                  <a:srgbClr val="6B6F7A"/>
                </a:solidFill>
                <a:latin typeface="Courier New"/>
              </a:rPr>
              <a:t>21</a:t>
            </a:r>
          </a:p>
        </p:txBody>
      </p:sp>
      <p:sp>
        <p:nvSpPr>
          <p:cNvPr id="12" name="TextBox 11"/>
          <p:cNvSpPr txBox="1"/>
          <p:nvPr/>
        </p:nvSpPr>
        <p:spPr>
          <a:xfrm>
            <a:off x="396000" y="936000"/>
            <a:ext cx="10800000" cy="360000"/>
          </a:xfrm>
          <a:prstGeom prst="rect">
            <a:avLst/>
          </a:prstGeom>
          <a:noFill/>
        </p:spPr>
        <p:txBody>
          <a:bodyPr wrap="square" anchor="t" lIns="0" rIns="0" tIns="0" bIns="0">
            <a:spAutoFit/>
          </a:bodyPr>
          <a:lstStyle/>
          <a:p>
            <a:pPr algn="l">
              <a:lnSpc>
                <a:spcPct val="100000"/>
              </a:lnSpc>
            </a:pPr>
            <a:r>
              <a:rPr sz="2400" b="1" i="0">
                <a:solidFill>
                  <a:srgbClr val="141A26"/>
                </a:solidFill>
                <a:latin typeface="Cambria"/>
              </a:rPr>
              <a:t/>
            </a:r>
          </a:p>
        </p:txBody>
      </p:sp>
      <p:sp>
        <p:nvSpPr>
          <p:cNvPr id="13" name="Rectangle 12"/>
          <p:cNvSpPr/>
          <p:nvPr/>
        </p:nvSpPr>
        <p:spPr>
          <a:xfrm>
            <a:off x="468000" y="1475999"/>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7999" y="1458000"/>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Distinguer transformation physique et transformation chimique, et en donner des exemples.</a:t>
            </a:r>
          </a:p>
        </p:txBody>
      </p:sp>
      <p:sp>
        <p:nvSpPr>
          <p:cNvPr id="15" name="Rectangle 14"/>
          <p:cNvSpPr/>
          <p:nvPr/>
        </p:nvSpPr>
        <p:spPr>
          <a:xfrm>
            <a:off x="468000" y="2033999"/>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7999" y="2015999"/>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Identifier le sens du transfert thermique et le relier aux termes exothermique et endothermique.</a:t>
            </a:r>
          </a:p>
        </p:txBody>
      </p:sp>
      <p:sp>
        <p:nvSpPr>
          <p:cNvPr id="17" name="Rectangle 16"/>
          <p:cNvSpPr/>
          <p:nvPr/>
        </p:nvSpPr>
        <p:spPr>
          <a:xfrm>
            <a:off x="468000" y="2591999"/>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7999" y="2574000"/>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Reconnaître et nommer les états et les six changements d'état.</a:t>
            </a:r>
          </a:p>
        </p:txBody>
      </p:sp>
      <p:sp>
        <p:nvSpPr>
          <p:cNvPr id="19" name="Rectangle 18"/>
          <p:cNvSpPr/>
          <p:nvPr/>
        </p:nvSpPr>
        <p:spPr>
          <a:xfrm>
            <a:off x="468000" y="3150000"/>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7999" y="3131999"/>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Établir l'écriture d'une équation de changement d'état.</a:t>
            </a:r>
          </a:p>
        </p:txBody>
      </p:sp>
      <p:sp>
        <p:nvSpPr>
          <p:cNvPr id="21" name="Rectangle 20"/>
          <p:cNvSpPr/>
          <p:nvPr/>
        </p:nvSpPr>
        <p:spPr>
          <a:xfrm>
            <a:off x="468000" y="3708000"/>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7999" y="3690000"/>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Exploiter la relation Q = m × L entre énergie transférée, masse et énergie massique.</a:t>
            </a:r>
          </a:p>
        </p:txBody>
      </p:sp>
      <p:sp>
        <p:nvSpPr>
          <p:cNvPr id="23" name="Rectangle 22"/>
          <p:cNvSpPr/>
          <p:nvPr/>
        </p:nvSpPr>
        <p:spPr>
          <a:xfrm>
            <a:off x="468000" y="4266000"/>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7999" y="4248000"/>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Connaître les définitions : système chimique, réaction chimique, réactifs, produits, espèce spectatrice.</a:t>
            </a:r>
          </a:p>
        </p:txBody>
      </p:sp>
      <p:sp>
        <p:nvSpPr>
          <p:cNvPr id="25" name="Rectangle 24"/>
          <p:cNvSpPr/>
          <p:nvPr/>
        </p:nvSpPr>
        <p:spPr>
          <a:xfrm>
            <a:off x="468000" y="4824000"/>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7999" y="4806000"/>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Modéliser une transformation par une réaction, établir son équation et l'ajuster.</a:t>
            </a:r>
          </a:p>
        </p:txBody>
      </p:sp>
      <p:sp>
        <p:nvSpPr>
          <p:cNvPr id="27" name="Rectangle 26"/>
          <p:cNvSpPr/>
          <p:nvPr/>
        </p:nvSpPr>
        <p:spPr>
          <a:xfrm>
            <a:off x="468000" y="5382000"/>
            <a:ext cx="223200" cy="223200"/>
          </a:xfrm>
          <a:prstGeom prst="rect">
            <a:avLst/>
          </a:prstGeom>
          <a:solidFill>
            <a:srgbClr val="FFFFFF"/>
          </a:solidFill>
          <a:ln>
            <a:solidFill>
              <a:srgbClr val="141A26"/>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7999" y="5363999"/>
            <a:ext cx="10440000" cy="503999"/>
          </a:xfrm>
          <a:prstGeom prst="rect">
            <a:avLst/>
          </a:prstGeom>
          <a:noFill/>
        </p:spPr>
        <p:txBody>
          <a:bodyPr wrap="square" anchor="t" lIns="0" rIns="0" tIns="0" bIns="0">
            <a:spAutoFit/>
          </a:bodyPr>
          <a:lstStyle/>
          <a:p>
            <a:pPr algn="l">
              <a:lnSpc>
                <a:spcPct val="110000"/>
              </a:lnSpc>
            </a:pPr>
            <a:r>
              <a:rPr sz="1400" b="0" i="0">
                <a:solidFill>
                  <a:srgbClr val="141A26"/>
                </a:solidFill>
                <a:latin typeface="Calibri"/>
              </a:rPr>
              <a:t>Identifier le réactif limitant à partir des quantités de matière et de l'équation.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4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4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00"/>
                                        <p:tgtEl>
                                          <p:spTgt spid="2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