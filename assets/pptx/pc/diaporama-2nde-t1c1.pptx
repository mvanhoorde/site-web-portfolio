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eate.kahoot.it/share/bilan-la-matiere-a-l-echelle-macroscopique/51baee15-66f1-4e4a-b9da-5f53d4cadab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4000" y="1944000"/>
            <a:ext cx="93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9AAA"/>
                </a:solidFill>
                <a:latin typeface="Courier New"/>
              </a:rPr>
              <a:t>THÈME 1 · CONSTITUTION ET TRANSFORMATIONS DE LA MATIÈRE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232000"/>
            <a:ext cx="972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DFCF8"/>
                </a:solidFill>
                <a:latin typeface="Cambria"/>
              </a:rPr>
              <a:t>Chapitre 1 — La matière à l'échelle macroscopique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3636000"/>
            <a:ext cx="10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AA2B2"/>
                </a:solidFill>
                <a:latin typeface="Calibri"/>
              </a:rPr>
              <a:t>Un verre d'eau, une pièce, l'air que tu respires : de quoi la matière est-elle faite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4140000"/>
            <a:ext cx="2160000" cy="21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4356000"/>
            <a:ext cx="93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2B2"/>
                </a:solidFill>
                <a:latin typeface="Courier New"/>
              </a:rPr>
              <a:t>M. VAN HOORDE · LYCÉE ISAAC DE L'ÉTOILE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2B2"/>
                </a:solidFill>
                <a:latin typeface="Courier New"/>
              </a:rPr>
              <a:t>Seconde générale · année 2026 /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8000" y="720000"/>
            <a:ext cx="2052000" cy="118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ogo-isaac-ly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00" y="846000"/>
            <a:ext cx="1620000" cy="91153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64000" y="5616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8000" y="5670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28A1D"/>
                </a:solidFill>
                <a:latin typeface="Courier New"/>
              </a:rPr>
              <a:t>ce picto marque ce qui est à écrire sur ta fiche de cours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Entités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atome · molécule · 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3744000" cy="1742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1742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338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ATOME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3420000" cy="129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atome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une particule neutre d'un élément chimique qui forme la plus petite quantité susceptible de se combiner (ex : C, Na, U…).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6000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3690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0000" y="1007999"/>
            <a:ext cx="3744000" cy="1742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230000" y="1007999"/>
            <a:ext cx="46800" cy="1742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2000" y="1108800"/>
            <a:ext cx="338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MOLÉCULE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2000" y="1350000"/>
            <a:ext cx="3420000" cy="129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La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molécule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 ensemble neutre d'atomes identiques ou non, unis les uns aux autres par le biais de liaisons chimiques (ex : H₂O, H₂, CH₄…).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1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3" name="Oval 22"/>
          <p:cNvSpPr/>
          <p:nvPr/>
        </p:nvSpPr>
        <p:spPr>
          <a:xfrm>
            <a:off x="7595999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5999" y="1007999"/>
            <a:ext cx="3744000" cy="1742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35999" y="1007999"/>
            <a:ext cx="46800" cy="1742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7999" y="1108800"/>
            <a:ext cx="338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7999" y="1350000"/>
            <a:ext cx="3420000" cy="129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ion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une entité chimique chargée que l'on trouve en solution. Les ions négatifs sont appelés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anions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(ex : Cl⁻, SO₄²⁻, F⁻…) et les ions positifs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cations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(ex : H⁺, Mg²⁺, H₃O⁺…).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7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9" name="Oval 28"/>
          <p:cNvSpPr/>
          <p:nvPr/>
        </p:nvSpPr>
        <p:spPr>
          <a:xfrm>
            <a:off x="1150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30" name="Picture 29" descr="t1c1-molecule-ea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874" y="2912400"/>
            <a:ext cx="5037450" cy="2811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77874" y="5788800"/>
            <a:ext cx="503745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 — La molécule d'eau (H₂O) est composée de deux atomes d'hydrogène et d'un atome d'oxygène.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Entités chimiques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s'exercer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11556000" cy="31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3186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 — ATOME, MOLÉCULE OU ION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11232000" cy="395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Cu  |  CU  |  Ag⁺  |  H  |  CO₂  |  O²⁻  |  O₂  |  Ca  |  NH₄⁺  |  NH₃  |  N  |  Cu²⁺  |  CO  |  C  |  SiO₃  |  K⁺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" y="1835406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Classer ces entités chimiques selon qu'il s'agisse d'un atome, d'une molécule, d'un anion ou d'un cation.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6000" y="2250000"/>
          <a:ext cx="11052000" cy="17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3000"/>
                <a:gridCol w="2763000"/>
                <a:gridCol w="2763000"/>
                <a:gridCol w="2763000"/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Atome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Molécule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Ion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</a:tr>
              <a:tr h="270000">
                <a:tc vMerge="1"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Anion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Cation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</a:tr>
              <a:tr h="1224000">
                <a:tc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4000" y="4518000"/>
            <a:ext cx="11556000" cy="1044000"/>
          </a:xfrm>
          <a:prstGeom prst="rect">
            <a:avLst/>
          </a:prstGeom>
          <a:solidFill>
            <a:srgbClr val="FD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24000" y="4518000"/>
            <a:ext cx="46800" cy="1044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461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ATTENTION — LA CASSE FAIT PARTIE DE LA FORMULE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" y="4860000"/>
            <a:ext cx="1123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En chimie, une majuscule ouvre toujours un symbole d'élément, et la minuscule qui la suit appartient au même symbole. Co est le cobalt, CO le monoxyde de carbone : écris tes symboles chimiques lisiblement.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Corps purs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espèce chimique · corps pur simple ou composé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5616000" cy="813599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813599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ESPÈCE CHIMIQUE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5292000" cy="363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espèce chimique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 ensemble d'entités chimiques.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7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556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1007999"/>
            <a:ext cx="5616000" cy="813599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999" y="1007999"/>
            <a:ext cx="46800" cy="813599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999" y="1108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CORPS PUR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999" y="1350000"/>
            <a:ext cx="5292000" cy="363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corps pur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constitué d'une seule espèce chimique.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7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3" name="Oval 22"/>
          <p:cNvSpPr/>
          <p:nvPr/>
        </p:nvSpPr>
        <p:spPr>
          <a:xfrm>
            <a:off x="1150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1983600"/>
            <a:ext cx="5616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4000" y="19836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20844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CORPS PUR SIMPLE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0" y="2325600"/>
            <a:ext cx="529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corps pur simple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formé d'un seul type d'élément chimique.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999" y="21132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9" name="Oval 28"/>
          <p:cNvSpPr/>
          <p:nvPr/>
        </p:nvSpPr>
        <p:spPr>
          <a:xfrm>
            <a:off x="5562000" y="20556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999" y="1983600"/>
            <a:ext cx="5616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63999" y="19836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5999" y="20844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CORPS PUR COMPOSÉ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5999" y="2325600"/>
            <a:ext cx="529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corps pur composé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, ou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composé chimique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, est formé d'au moins deux types d'éléments chimiques.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7999" y="21132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35" name="Oval 34"/>
          <p:cNvSpPr/>
          <p:nvPr/>
        </p:nvSpPr>
        <p:spPr>
          <a:xfrm>
            <a:off x="11502000" y="20556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36" name="Picture 35" descr="site-t1c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189600"/>
            <a:ext cx="5616000" cy="21215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24000" y="5375999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2 — Le cuivre métallique n'est formé que d'atomes de cuivre : un seul élément, un corps pur simple.</a:t>
            </a:r>
          </a:p>
        </p:txBody>
      </p:sp>
      <p:pic>
        <p:nvPicPr>
          <p:cNvPr id="38" name="Picture 37" descr="site-t1c1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3189600"/>
            <a:ext cx="5616000" cy="212159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63999" y="5375999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3 — L'eau : une seule espèce, mais deux éléments dans chaque molécule — un corps pur composé.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Corps purs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s'exercer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11556000" cy="1044000"/>
          </a:xfrm>
          <a:prstGeom prst="rect">
            <a:avLst/>
          </a:prstGeom>
          <a:solidFill>
            <a:srgbClr val="FD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1044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ATTENTION — « PUR » N'A PAS LE SENS DE TOUS LES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1123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jus « pur fruit » ou une eau « pure » du langage courant sont des mélanges. En chimie, un corps pur ne contient qu'une seule espèce chimique : l'eau minérale, qui contient des ions, n'est pas un corps pur.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376000"/>
            <a:ext cx="11556000" cy="2933999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24000" y="2376000"/>
            <a:ext cx="46800" cy="2933999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2476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2 — CORPS PUR SIMPLE OU COMPOSÉ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" y="2718000"/>
            <a:ext cx="11232000" cy="395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900" b="0" i="0">
                <a:solidFill>
                  <a:srgbClr val="141A26"/>
                </a:solidFill>
                <a:latin typeface="Cambria"/>
              </a:rPr>
              <a:t>Cu  |  CU  |  Ag⁺  |  H  |  NH₄⁺  |  NH₃  |  N  |  Cu²⁺  |  CO₂  |  O²⁻  |  O₂  |  Ca  |  CO  |  C  |  SiO₃  |  K⁺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3203406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Classer ces espèces chimiques selon qu'il s'agisse d'un corps pur simple ou composé.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00" y="3617999"/>
          <a:ext cx="11052000" cy="15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6000"/>
                <a:gridCol w="5526000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Corps pur simple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1A26"/>
                          </a:solidFill>
                          <a:latin typeface="Calibri"/>
                        </a:rPr>
                        <a:t>Corps pur composé</a:t>
                      </a:r>
                    </a:p>
                  </a:txBody>
                  <a:tcPr marT="14400" marB="14400" anchor="ctr">
                    <a:solidFill>
                      <a:srgbClr val="FDFCF8"/>
                    </a:solidFill>
                  </a:tcPr>
                </a:tc>
              </a:tr>
              <a:tr h="1224000">
                <a:tc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Mélanges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mélange hétérogène · mélange homogène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11556000" cy="813599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813599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MÉLANGE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11232000" cy="363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mélange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constitué de plusieurs espèces chimiques.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1150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1983600"/>
            <a:ext cx="5616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24000" y="19836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20844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MÉLANGE HÉTÉROGÈNE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" y="2325600"/>
            <a:ext cx="529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mélange hétérogène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constitué de plusieurs phases, c'est-à-dire plusieurs corps que l'on peut distinguer.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999" y="21132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3" name="Oval 22"/>
          <p:cNvSpPr/>
          <p:nvPr/>
        </p:nvSpPr>
        <p:spPr>
          <a:xfrm>
            <a:off x="5562000" y="20556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999" y="1983600"/>
            <a:ext cx="5616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63999" y="1983600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5999" y="20844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MÉLANGE HOMOGÈNE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999" y="2325600"/>
            <a:ext cx="5292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mélange homogène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ne présente qu'une seule phase : les espèces chimiques y sont indiscernables.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7999" y="21132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9" name="Oval 28"/>
          <p:cNvSpPr/>
          <p:nvPr/>
        </p:nvSpPr>
        <p:spPr>
          <a:xfrm>
            <a:off x="11502000" y="20556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30" name="Picture 29" descr="t1c1-melange-heteroge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49" y="3189600"/>
            <a:ext cx="4605300" cy="2570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9349" y="5824800"/>
            <a:ext cx="46053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4 — L'eau et l'huile : deux phases, mélange hétérogène.</a:t>
            </a:r>
          </a:p>
        </p:txBody>
      </p:sp>
      <p:pic>
        <p:nvPicPr>
          <p:cNvPr id="32" name="Picture 31" descr="t1c1-melange-homoge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49" y="3189600"/>
            <a:ext cx="4605300" cy="2570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69349" y="5824800"/>
            <a:ext cx="46053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5 — L'eau sucrée : une seule phase, mélange homogène.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Mélanges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liquides miscibles · les quatre 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8000" y="1007999"/>
            <a:ext cx="3131999" cy="1508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748000" y="1007999"/>
            <a:ext cx="46800" cy="1508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0000" y="1108800"/>
            <a:ext cx="2771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MISCIBLES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0000" y="1350000"/>
            <a:ext cx="2807999" cy="105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mélange de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liquides miscibles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ne fait apparaître qu'une seule phase : c'est un mélange homogène.</a:t>
            </a:r>
          </a:p>
        </p:txBody>
      </p:sp>
      <p:sp>
        <p:nvSpPr>
          <p:cNvPr id="16" name="Oval 15"/>
          <p:cNvSpPr/>
          <p:nvPr/>
        </p:nvSpPr>
        <p:spPr>
          <a:xfrm>
            <a:off x="11502000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2714400"/>
            <a:ext cx="3131999" cy="1508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748000" y="2714400"/>
            <a:ext cx="46800" cy="1508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0000" y="2815200"/>
            <a:ext cx="2771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NON MISCIBLES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0000" y="3056400"/>
            <a:ext cx="2807999" cy="105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Un mélange de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liquides non miscibles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fait apparaître plusieurs phases : c'est un mélange hétérogène.</a:t>
            </a:r>
          </a:p>
        </p:txBody>
      </p:sp>
      <p:sp>
        <p:nvSpPr>
          <p:cNvPr id="21" name="Oval 20"/>
          <p:cNvSpPr/>
          <p:nvPr/>
        </p:nvSpPr>
        <p:spPr>
          <a:xfrm>
            <a:off x="11502000" y="27864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8000" y="4510800"/>
            <a:ext cx="313199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1D9AAA"/>
                </a:solidFill>
                <a:latin typeface="Calibri"/>
              </a:rPr>
              <a:t>Deux catégories pour les corps purs, deux pour les mélanges : le schéma les tient ensemble.</a:t>
            </a:r>
          </a:p>
        </p:txBody>
      </p:sp>
      <p:pic>
        <p:nvPicPr>
          <p:cNvPr id="23" name="Picture 22" descr="t1c1-arbre-mati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44000"/>
            <a:ext cx="8136000" cy="45410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24000" y="5649823"/>
            <a:ext cx="813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6 — Les quatre cas et leur modélisation à l'échelle des particules : ce schéma est à retenir.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6000" y="88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6" name="Oval 25"/>
          <p:cNvSpPr/>
          <p:nvPr/>
        </p:nvSpPr>
        <p:spPr>
          <a:xfrm>
            <a:off x="8190000" y="8279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Composition d'un mélange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deux façons de compter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972000"/>
            <a:ext cx="1155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41A26"/>
                </a:solidFill>
                <a:latin typeface="Calibri"/>
              </a:rPr>
              <a:t>Dire « c'est un mélange » ne suffit pas : il faut savoir en quelle proportion. La composition massique compare les masses, la composition volumique compare les volumes.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4000" y="1800000"/>
            <a:ext cx="9720000" cy="154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40000" y="1980000"/>
            <a:ext cx="4665600" cy="11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1">
                <a:solidFill>
                  <a:srgbClr val="FDFCF8"/>
                </a:solidFill>
                <a:latin typeface="Cambria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278400" y="1980000"/>
            <a:ext cx="10800" cy="1188000"/>
          </a:xfrm>
          <a:prstGeom prst="rect">
            <a:avLst/>
          </a:prstGeom>
          <a:solidFill>
            <a:srgbClr val="6B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4400" y="1962000"/>
            <a:ext cx="38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8F6E"/>
                </a:solidFill>
                <a:latin typeface="Courier New"/>
              </a:rPr>
              <a:t>GRANDEURS &amp; UNITÉS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4400" y="2178000"/>
            <a:ext cx="3888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%m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composition massique · 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m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de l'espèce · 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m</a:t>
            </a:r>
            <a:r>
              <a:rPr sz="1300" b="1" i="0" baseline="-25000">
                <a:solidFill>
                  <a:srgbClr val="FDFCF8"/>
                </a:solidFill>
                <a:latin typeface="Calibri"/>
              </a:rPr>
              <a:t>mélange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totale ·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999" y="2421000"/>
            <a:ext cx="17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%m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6000" y="2223000"/>
            <a:ext cx="1296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6000" y="2554200"/>
            <a:ext cx="1296000" cy="1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000" y="2601000"/>
            <a:ext cx="1296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m</a:t>
            </a:r>
            <a:r>
              <a:rPr sz="2000" b="0" i="1" baseline="-25000">
                <a:solidFill>
                  <a:srgbClr val="FDFCF8"/>
                </a:solidFill>
                <a:latin typeface="Cambria"/>
              </a:rPr>
              <a:t>mélange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6000" y="2421000"/>
            <a:ext cx="11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×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4000" y="1659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4" name="Oval 23"/>
          <p:cNvSpPr/>
          <p:nvPr/>
        </p:nvSpPr>
        <p:spPr>
          <a:xfrm>
            <a:off x="10547999" y="1602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4000" y="3708000"/>
            <a:ext cx="9720000" cy="1548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440000" y="3888000"/>
            <a:ext cx="4665600" cy="11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1">
                <a:solidFill>
                  <a:srgbClr val="FDFCF8"/>
                </a:solidFill>
                <a:latin typeface="Cambria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78400" y="3888000"/>
            <a:ext cx="10800" cy="1188000"/>
          </a:xfrm>
          <a:prstGeom prst="rect">
            <a:avLst/>
          </a:prstGeom>
          <a:solidFill>
            <a:srgbClr val="6B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4400" y="3870000"/>
            <a:ext cx="388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8F6E"/>
                </a:solidFill>
                <a:latin typeface="Courier New"/>
              </a:rPr>
              <a:t>GRANDEURS &amp; UNITÉS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4400" y="4086000"/>
            <a:ext cx="3888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%V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composition volumique · 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V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volume de l'espèce · 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V</a:t>
            </a:r>
            <a:r>
              <a:rPr sz="1300" b="1" i="0" baseline="-25000">
                <a:solidFill>
                  <a:srgbClr val="FDFCF8"/>
                </a:solidFill>
                <a:latin typeface="Calibri"/>
              </a:rPr>
              <a:t>mélange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volume total · 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5999" y="4329000"/>
            <a:ext cx="17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%V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96000" y="4131000"/>
            <a:ext cx="1296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6000" y="4462200"/>
            <a:ext cx="1296000" cy="1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6000" y="4509000"/>
            <a:ext cx="1296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V</a:t>
            </a:r>
            <a:r>
              <a:rPr sz="2000" b="0" i="1" baseline="-25000">
                <a:solidFill>
                  <a:srgbClr val="FDFCF8"/>
                </a:solidFill>
                <a:latin typeface="Cambria"/>
              </a:rPr>
              <a:t>mélange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6000" y="4329000"/>
            <a:ext cx="115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× 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4000" y="356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36" name="Oval 35"/>
          <p:cNvSpPr/>
          <p:nvPr/>
        </p:nvSpPr>
        <p:spPr>
          <a:xfrm>
            <a:off x="10547999" y="351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Composition d'un mélange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 — un exemple de composition massique : la fonte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9</a:t>
            </a:r>
          </a:p>
        </p:txBody>
      </p:sp>
      <p:pic>
        <p:nvPicPr>
          <p:cNvPr id="12" name="Picture 11" descr="t1c1-fonte-marm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07999"/>
            <a:ext cx="3744000" cy="2312960"/>
          </a:xfrm>
          <a:prstGeom prst="rect">
            <a:avLst/>
          </a:prstGeom>
        </p:spPr>
      </p:pic>
      <p:pic>
        <p:nvPicPr>
          <p:cNvPr id="13" name="Picture 12" descr="t1c1-fonte-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00" y="1007999"/>
            <a:ext cx="3564000" cy="2312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00000" y="1007999"/>
            <a:ext cx="3780000" cy="23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F7A"/>
                </a:solidFill>
                <a:latin typeface="Courier New"/>
              </a:rPr>
              <a:t>Image 7 — La fonte est un alliage (mélange en phase solide) d'au moins 2,11 % en masse de carbone ; le reste, 97,89 %, c'est du fer. À droite, au microscope : le carbone (points sombres) est dispersé dans le fer.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3643199"/>
            <a:ext cx="11556000" cy="21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24000" y="3643199"/>
            <a:ext cx="46800" cy="2124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3743999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3 — COMPOSITION EN MASSE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0" y="3985199"/>
            <a:ext cx="9072000" cy="16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" y="3985199"/>
            <a:ext cx="9072000" cy="16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1 — Quelle masse de carbone y a-t-il dans une marmite en fonte de 2,5 kg composée à 4 % de carbone 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2 — Une alliance en or blanc de 5 g est composée de 1000 mg d'or, le reste étant de l'argent. Donner la composition massique de cet alliage.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141A26"/>
                </a:solidFill>
                <a:latin typeface="Courier New"/>
              </a:rPr>
              <a:t>Donnée : la relation de la composition massique %m.</a:t>
            </a:r>
          </a:p>
        </p:txBody>
      </p:sp>
      <p:pic>
        <p:nvPicPr>
          <p:cNvPr id="20" name="Picture 19" descr="t1c1-alli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000" y="3931200"/>
            <a:ext cx="1655999" cy="1655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Composition d'un mélange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B — un exemple de composition volumique : l'air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10</a:t>
            </a:r>
          </a:p>
        </p:txBody>
      </p:sp>
      <p:pic>
        <p:nvPicPr>
          <p:cNvPr id="12" name="Picture 11" descr="site-t1c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00" y="1044000"/>
            <a:ext cx="3600000" cy="36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6000" y="4708800"/>
            <a:ext cx="360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8 — Composition volumique de l'air sec. « Autres gaz » : Ar, CO₂, Ne, He, Kr, H₂, Xe, O₃, 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0" y="88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5" name="Oval 14"/>
          <p:cNvSpPr/>
          <p:nvPr/>
        </p:nvSpPr>
        <p:spPr>
          <a:xfrm>
            <a:off x="11466000" y="8279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1007999"/>
            <a:ext cx="7343999" cy="15840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24000" y="1007999"/>
            <a:ext cx="46800" cy="1584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1108800"/>
            <a:ext cx="698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PROPRIÉTÉ — COMPOSITION DE L'AIR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" y="1350000"/>
            <a:ext cx="7020000" cy="11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</a:t>
            </a:r>
            <a:r>
              <a:rPr sz="1500" b="1" i="0">
                <a:solidFill>
                  <a:srgbClr val="4A3F9E"/>
                </a:solidFill>
                <a:latin typeface="Calibri"/>
              </a:rPr>
              <a:t>air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est un mélange de gaz. En volume, il contient environ 78 % de diazote (N₂) et 21 % de dioxygène (O₂) ; le dernier pour cent réunit les autres gaz, dont l'argon (Ar) à 0,93 % et le dioxyde de carbone (CO₂) à 0,04 %.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Sa masse volumique vaut environ </a:t>
            </a:r>
            <a:r>
              <a:rPr sz="1500" b="0" i="1">
                <a:solidFill>
                  <a:srgbClr val="141A26"/>
                </a:solidFill>
                <a:latin typeface="Calibri"/>
              </a:rPr>
              <a:t>ρ</a:t>
            </a:r>
            <a:r>
              <a:rPr sz="1500" b="0" i="0" baseline="-25000">
                <a:solidFill>
                  <a:srgbClr val="141A26"/>
                </a:solidFill>
                <a:latin typeface="Calibri"/>
              </a:rPr>
              <a:t>air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= 1,2 g·L⁻¹.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5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1" name="Oval 20"/>
          <p:cNvSpPr/>
          <p:nvPr/>
        </p:nvSpPr>
        <p:spPr>
          <a:xfrm>
            <a:off x="7289999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2790000"/>
            <a:ext cx="7343999" cy="142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4000" y="2790000"/>
            <a:ext cx="46800" cy="1425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2890800"/>
            <a:ext cx="698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4 — COMPOSITION DE L'AIR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000" y="3131999"/>
            <a:ext cx="7020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1 — L'air est-il un mélange ou un corps pur ? Justifier.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000" y="3530024"/>
            <a:ext cx="7020000" cy="5404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2 — Classer chaque espèce chimique composant l'air selon qu'il s'agisse d'un corps pur simple ou composé.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4413600"/>
            <a:ext cx="7343999" cy="105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4000" y="4413600"/>
            <a:ext cx="46800" cy="10548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514400"/>
            <a:ext cx="698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5 — COMPOSITION EN VOLUME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" y="4755600"/>
            <a:ext cx="7020000" cy="569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Courier New"/>
              </a:rPr>
              <a:t>Données : relation de la composition volumique %V · %Ar = 0,93 %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 volume d'argon trouve-t-on dans 1000 m³ d'air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Solubilité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dissolution · saturation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5688000" cy="15084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15084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5328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SOLUBILITÉ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5364000" cy="105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La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solubilité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, notée s, d'une espèce chimique est la masse maximale de cette espèce que l'on peut dissoudre dans un volume donné d'une autre espèce chimique liquide (ex : eau). Elle s'exprime le plus souvent en g·L⁻¹.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5633999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876400"/>
            <a:ext cx="5688000" cy="144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0000" y="3056400"/>
            <a:ext cx="2730240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1">
                <a:solidFill>
                  <a:srgbClr val="FDFCF8"/>
                </a:solidFill>
                <a:latin typeface="Cambria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281760" y="3056400"/>
            <a:ext cx="10800" cy="1080000"/>
          </a:xfrm>
          <a:prstGeom prst="rect">
            <a:avLst/>
          </a:prstGeom>
          <a:solidFill>
            <a:srgbClr val="6B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038400"/>
            <a:ext cx="22752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8F6E"/>
                </a:solidFill>
                <a:latin typeface="Courier New"/>
              </a:rPr>
              <a:t>GRANDEURS &amp; UNITÉS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54400"/>
            <a:ext cx="22752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s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solubilité · g·L⁻¹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m</a:t>
            </a:r>
            <a:r>
              <a:rPr sz="1300" b="1" i="0" baseline="-25000">
                <a:solidFill>
                  <a:srgbClr val="FDFCF8"/>
                </a:solidFill>
                <a:latin typeface="Calibri"/>
              </a:rPr>
              <a:t>max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maximale · 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V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volume de solvant ·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" y="3443400"/>
            <a:ext cx="17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s 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6000" y="3245400"/>
            <a:ext cx="86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m</a:t>
            </a:r>
            <a:r>
              <a:rPr sz="2000" b="0" i="1" baseline="-25000">
                <a:solidFill>
                  <a:srgbClr val="FDFCF8"/>
                </a:solidFill>
                <a:latin typeface="Cambria"/>
              </a:rPr>
              <a:t>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6000" y="3576600"/>
            <a:ext cx="864000" cy="1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6000" y="3623400"/>
            <a:ext cx="86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1999" y="27360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8" name="Oval 27"/>
          <p:cNvSpPr/>
          <p:nvPr/>
        </p:nvSpPr>
        <p:spPr>
          <a:xfrm>
            <a:off x="5616000" y="26784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29" name="Picture 28" descr="t1c1-dissolution-satu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044000"/>
            <a:ext cx="5580000" cy="311441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0000" y="4223218"/>
            <a:ext cx="558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9 — Au-delà de la solubilité, un dépôt apparaît : la solution est saturée, le mélange redevient hétérogène.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6000" y="88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32" name="Oval 31"/>
          <p:cNvSpPr/>
          <p:nvPr/>
        </p:nvSpPr>
        <p:spPr>
          <a:xfrm>
            <a:off x="11610000" y="8279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000" y="4680000"/>
            <a:ext cx="11556000" cy="119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24000" y="4680000"/>
            <a:ext cx="46800" cy="11916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000" y="4780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6 — SATURER UNE BOUTEILLE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000" y="5022000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À 0 °C, la solubilité du sel dans l'eau est s = 347 g·L⁻¹.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000" y="5420024"/>
            <a:ext cx="1123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Quelle masse de sel peut-on introduire dans une bouteille de 1,5 L avant d'atteindre la saturation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Solubilité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lire une solubilité dans un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11556000" cy="51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5148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7 — LIRE UNE SOLUBILITÉ DANS UN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11160000" cy="46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" y="1350000"/>
            <a:ext cx="11160000" cy="46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Quelle masse de diazote (N₂) peut-on introduire au maximum dans 500 mL d'eau à 35 °C ?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8000" y="1800000"/>
          <a:ext cx="4104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2000"/>
                <a:gridCol w="2052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41A26"/>
                          </a:solidFill>
                          <a:latin typeface="Calibri"/>
                        </a:rPr>
                        <a:t>Gaz</a:t>
                      </a:r>
                    </a:p>
                  </a:txBody>
                  <a:tcPr marT="14400" marB="14400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41A26"/>
                          </a:solidFill>
                          <a:latin typeface="Calibri"/>
                        </a:rPr>
                        <a:t>s (mg·L⁻¹)</a:t>
                      </a:r>
                    </a:p>
                  </a:txBody>
                  <a:tcPr marT="14400" marB="14400">
                    <a:solidFill>
                      <a:srgbClr val="FDFCF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N₂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23,2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O₂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54,3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CO₂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2 318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H₂S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5 112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CH₄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32,5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H₂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41A26"/>
                          </a:solidFill>
                          <a:latin typeface="Cambria"/>
                        </a:rPr>
                        <a:t>1,6</a:t>
                      </a:r>
                    </a:p>
                  </a:txBody>
                  <a:tcPr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8000" y="4428000"/>
            <a:ext cx="4104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10 — Solubilité de quelques gaz dans l'eau à 10 °C</a:t>
            </a:r>
          </a:p>
        </p:txBody>
      </p:sp>
      <p:pic>
        <p:nvPicPr>
          <p:cNvPr id="19" name="Picture 18" descr="site-t1c1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000" y="1728000"/>
            <a:ext cx="6120000" cy="387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28000" y="5662800"/>
            <a:ext cx="61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11 — Solubilité du diazote dans l'eau selon la température.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Masse volumique et densité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la masse volumique 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6480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61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MASSE VOLUMIQUE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6156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La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masse volumique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ρ d'un corps est le rapport de la masse de ce corps sur le volume de ce corps.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1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6425999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412000"/>
            <a:ext cx="6480000" cy="1296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0000" y="2592000"/>
            <a:ext cx="31104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1">
                <a:solidFill>
                  <a:srgbClr val="FDFCF8"/>
                </a:solidFill>
                <a:latin typeface="Cambria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693600" y="2592000"/>
            <a:ext cx="10800" cy="936000"/>
          </a:xfrm>
          <a:prstGeom prst="rect">
            <a:avLst/>
          </a:prstGeom>
          <a:solidFill>
            <a:srgbClr val="6B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17600" y="2574000"/>
            <a:ext cx="25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8F6E"/>
                </a:solidFill>
                <a:latin typeface="Courier New"/>
              </a:rPr>
              <a:t>GRANDEURS &amp; UNITÉS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7600" y="2790000"/>
            <a:ext cx="25920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ρ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volumique · g·cm⁻³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m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· 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V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volume · cm³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" y="2907000"/>
            <a:ext cx="17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ρ 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6000" y="2709000"/>
            <a:ext cx="792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6000" y="3040200"/>
            <a:ext cx="792000" cy="1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6000" y="3087000"/>
            <a:ext cx="792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3999" y="227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8" name="Oval 27"/>
          <p:cNvSpPr/>
          <p:nvPr/>
        </p:nvSpPr>
        <p:spPr>
          <a:xfrm>
            <a:off x="6407999" y="221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29" name="Picture 28" descr="t1c1-cube-eau-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044000"/>
            <a:ext cx="4824000" cy="269246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56000" y="3801265"/>
            <a:ext cx="482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12 — Même volume, masses très différentes : l'or a une densité de 19,3.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000" y="3888000"/>
            <a:ext cx="64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A26"/>
                </a:solidFill>
                <a:latin typeface="Calibri"/>
              </a:rPr>
              <a:t>Un litre d'eau pèse 1 kg</a:t>
            </a:r>
            <a:r>
              <a:rPr sz="1600" b="0" i="0">
                <a:solidFill>
                  <a:srgbClr val="141A26"/>
                </a:solidFill>
                <a:latin typeface="Calibri"/>
              </a:rPr>
              <a:t> : cette valeur est à connaître, et elle sert de référence à toutes les autres.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4680000"/>
            <a:ext cx="11556000" cy="105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24000" y="4680000"/>
            <a:ext cx="46800" cy="10548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000" y="4780800"/>
            <a:ext cx="1119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9 — LA MASSE D'UNE DALLE DE BÉTON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" y="5022000"/>
            <a:ext cx="11232000" cy="569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Courier New"/>
              </a:rPr>
              <a:t>Donnée : ρ(béton) = 2,4 g·cm⁻³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Quelle est la masse de 3 m³ de béton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Masse volumique et densité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la densité 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007999"/>
            <a:ext cx="6552000" cy="1044000"/>
          </a:xfrm>
          <a:prstGeom prst="rect">
            <a:avLst/>
          </a:prstGeom>
          <a:solidFill>
            <a:srgbClr val="EA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4000" y="1007999"/>
            <a:ext cx="46800" cy="1044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108800"/>
            <a:ext cx="61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9AAA"/>
                </a:solidFill>
                <a:latin typeface="Courier New"/>
              </a:rPr>
              <a:t>DÉFINITION — DENSITÉ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1350000"/>
            <a:ext cx="6228000" cy="5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La </a:t>
            </a:r>
            <a:r>
              <a:rPr sz="1500" b="1" i="0">
                <a:solidFill>
                  <a:srgbClr val="1D9AAA"/>
                </a:solidFill>
                <a:latin typeface="Calibri"/>
              </a:rPr>
              <a:t>densité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d d'une espèce chimique est le rapport de sa masse volumique par une masse volumique de référence. La densité est un nombre sans unité.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3999" y="1137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7" name="Oval 16"/>
          <p:cNvSpPr/>
          <p:nvPr/>
        </p:nvSpPr>
        <p:spPr>
          <a:xfrm>
            <a:off x="6497999" y="1080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412000"/>
            <a:ext cx="6552000" cy="1296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0000" y="2592000"/>
            <a:ext cx="3144959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1">
                <a:solidFill>
                  <a:srgbClr val="FDFCF8"/>
                </a:solidFill>
                <a:latin typeface="Cambria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731040" y="2592000"/>
            <a:ext cx="10800" cy="936000"/>
          </a:xfrm>
          <a:prstGeom prst="rect">
            <a:avLst/>
          </a:prstGeom>
          <a:solidFill>
            <a:srgbClr val="6B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8639" y="2574000"/>
            <a:ext cx="26208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8F6E"/>
                </a:solidFill>
                <a:latin typeface="Courier New"/>
              </a:rPr>
              <a:t>GRANDEURS &amp; UNITÉS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8639" y="2790000"/>
            <a:ext cx="2620800" cy="7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d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densité · sans unité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ρ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volumique de l'espèce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FDFCF8"/>
                </a:solidFill>
                <a:latin typeface="Calibri"/>
              </a:rPr>
              <a:t>ρ</a:t>
            </a:r>
            <a:r>
              <a:rPr sz="1300" b="1" i="0" baseline="-25000">
                <a:solidFill>
                  <a:srgbClr val="FDFCF8"/>
                </a:solidFill>
                <a:latin typeface="Calibri"/>
              </a:rPr>
              <a:t>réf</a:t>
            </a:r>
            <a:r>
              <a:rPr sz="1300" b="0" i="0">
                <a:solidFill>
                  <a:srgbClr val="FDFCF8"/>
                </a:solidFill>
                <a:latin typeface="Calibri"/>
              </a:rPr>
              <a:t>  masse volumique de référence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" y="2907000"/>
            <a:ext cx="17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0" i="1">
                <a:solidFill>
                  <a:srgbClr val="FDFCF8"/>
                </a:solidFill>
                <a:latin typeface="Cambria"/>
              </a:rPr>
              <a:t>d 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6000" y="2709000"/>
            <a:ext cx="86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6000" y="3040200"/>
            <a:ext cx="864000" cy="1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6000" y="3087000"/>
            <a:ext cx="864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DFCF8"/>
                </a:solidFill>
                <a:latin typeface="Cambria"/>
              </a:rPr>
              <a:t>ρ</a:t>
            </a:r>
            <a:r>
              <a:rPr sz="2000" b="0" i="1" baseline="-25000">
                <a:solidFill>
                  <a:srgbClr val="FDFCF8"/>
                </a:solidFill>
                <a:latin typeface="Cambria"/>
              </a:rPr>
              <a:t>réf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5999" y="2271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28" name="Oval 27"/>
          <p:cNvSpPr/>
          <p:nvPr/>
        </p:nvSpPr>
        <p:spPr>
          <a:xfrm>
            <a:off x="6479999" y="2214000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pic>
        <p:nvPicPr>
          <p:cNvPr id="29" name="Picture 28" descr="site-t1c1f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999" y="1044000"/>
            <a:ext cx="4716000" cy="285818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63999" y="3966981"/>
            <a:ext cx="471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13 — La masse volumique, donc la densité, diminue généralement quand la température augmente.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000" y="4428000"/>
            <a:ext cx="5616000" cy="1119600"/>
          </a:xfrm>
          <a:prstGeom prst="rect">
            <a:avLst/>
          </a:prstGeom>
          <a:solidFill>
            <a:srgbClr val="EF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24000" y="4428000"/>
            <a:ext cx="46800" cy="11196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000" y="4528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F9E"/>
                </a:solidFill>
                <a:latin typeface="Courier New"/>
              </a:rPr>
              <a:t>LES DEUX RÉFÉRENCES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000" y="4770000"/>
            <a:ext cx="5292000" cy="66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Liquide ou solide : </a:t>
            </a:r>
            <a:r>
              <a:rPr sz="1500" b="0" i="1">
                <a:solidFill>
                  <a:srgbClr val="141A26"/>
                </a:solidFill>
                <a:latin typeface="Calibri"/>
              </a:rPr>
              <a:t>ρ</a:t>
            </a:r>
            <a:r>
              <a:rPr sz="1500" b="0" i="0" baseline="-25000">
                <a:solidFill>
                  <a:srgbClr val="141A26"/>
                </a:solidFill>
                <a:latin typeface="Calibri"/>
              </a:rPr>
              <a:t>réf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= </a:t>
            </a:r>
            <a:r>
              <a:rPr sz="1500" b="0" i="1">
                <a:solidFill>
                  <a:srgbClr val="141A26"/>
                </a:solidFill>
                <a:latin typeface="Calibri"/>
              </a:rPr>
              <a:t>ρ</a:t>
            </a:r>
            <a:r>
              <a:rPr sz="1500" b="0" i="0" baseline="-25000">
                <a:solidFill>
                  <a:srgbClr val="141A26"/>
                </a:solidFill>
                <a:latin typeface="Calibri"/>
              </a:rPr>
              <a:t>eau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= 1 g·cm⁻³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Gaz : </a:t>
            </a:r>
            <a:r>
              <a:rPr sz="1500" b="0" i="1">
                <a:solidFill>
                  <a:srgbClr val="141A26"/>
                </a:solidFill>
                <a:latin typeface="Calibri"/>
              </a:rPr>
              <a:t>ρ</a:t>
            </a:r>
            <a:r>
              <a:rPr sz="1500" b="0" i="0" baseline="-25000">
                <a:solidFill>
                  <a:srgbClr val="141A26"/>
                </a:solidFill>
                <a:latin typeface="Calibri"/>
              </a:rPr>
              <a:t>réf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= </a:t>
            </a:r>
            <a:r>
              <a:rPr sz="1500" b="0" i="1">
                <a:solidFill>
                  <a:srgbClr val="141A26"/>
                </a:solidFill>
                <a:latin typeface="Calibri"/>
              </a:rPr>
              <a:t>ρ</a:t>
            </a:r>
            <a:r>
              <a:rPr sz="1500" b="0" i="0" baseline="-25000">
                <a:solidFill>
                  <a:srgbClr val="141A26"/>
                </a:solidFill>
                <a:latin typeface="Calibri"/>
              </a:rPr>
              <a:t>air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≈ 1,2 g·L⁻¹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999" y="4428000"/>
            <a:ext cx="5616000" cy="1119600"/>
          </a:xfrm>
          <a:prstGeom prst="rect">
            <a:avLst/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63999" y="4428000"/>
            <a:ext cx="46800" cy="1119600"/>
          </a:xfrm>
          <a:prstGeom prst="rect">
            <a:avLst/>
          </a:prstGeom>
          <a:solidFill>
            <a:srgbClr val="4C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5999" y="4528800"/>
            <a:ext cx="52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C8A58"/>
                </a:solidFill>
                <a:latin typeface="Courier New"/>
              </a:rPr>
              <a:t>APPLICATION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5999" y="4770000"/>
            <a:ext cx="5292000" cy="66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L'or : ρ</a:t>
            </a:r>
            <a:r>
              <a:rPr sz="1500" b="0" i="0" baseline="-25000">
                <a:solidFill>
                  <a:srgbClr val="141A26"/>
                </a:solidFill>
                <a:latin typeface="Calibri"/>
              </a:rPr>
              <a:t>or</a:t>
            </a:r>
            <a:r>
              <a:rPr sz="1500" b="0" i="0">
                <a:solidFill>
                  <a:srgbClr val="141A26"/>
                </a:solidFill>
                <a:latin typeface="Calibri"/>
              </a:rPr>
              <a:t> = 19,3 g·cm⁻³, donc d = 19,3. </a:t>
            </a:r>
            <a:r>
              <a:rPr sz="1500" b="0" i="1">
                <a:solidFill>
                  <a:srgbClr val="141A26"/>
                </a:solidFill>
                <a:latin typeface="Calibri"/>
              </a:rPr>
              <a:t>Un volume d'or est 19,3 fois plus lourd que le même volume d'eau.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Masse volumique et densité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exploiter une mesure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4000" y="1007999"/>
            <a:ext cx="9720000" cy="463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224000" y="1007999"/>
            <a:ext cx="46800" cy="46368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6000" y="1108800"/>
            <a:ext cx="93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8 — EXPLOITER UNE MESURE</a:t>
            </a:r>
          </a:p>
        </p:txBody>
      </p:sp>
      <p:pic>
        <p:nvPicPr>
          <p:cNvPr id="15" name="Picture 14" descr="site-t1c1f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00" y="1386000"/>
            <a:ext cx="3960000" cy="336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6000" y="4932000"/>
            <a:ext cx="9396000" cy="569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Courier New"/>
              </a:rPr>
              <a:t>Données : ρ(eau) = 1,00 g·cm⁻³ · 1 mL = 1 cm³ · Image 14 : mesure de la masse volumique de l'huile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Calculer la masse volumique de l'huile à l'aide du montage, puis en déduire sa densité.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Identifier une espèce chimique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trois voies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16</a:t>
            </a:r>
          </a:p>
        </p:txBody>
      </p:sp>
      <p:pic>
        <p:nvPicPr>
          <p:cNvPr id="12" name="Picture 11" descr="t1c1-identification-ca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599" y="1044000"/>
            <a:ext cx="7560000" cy="42195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6599" y="5328334"/>
            <a:ext cx="756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15 — Les trois grandes voies d'identification d'une espèce chimique.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2599" y="88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5" name="Oval 14"/>
          <p:cNvSpPr/>
          <p:nvPr/>
        </p:nvSpPr>
        <p:spPr>
          <a:xfrm>
            <a:off x="9606599" y="8279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5605534"/>
            <a:ext cx="11556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41A26"/>
                </a:solidFill>
                <a:latin typeface="Calibri"/>
              </a:rPr>
              <a:t>Comparer ses propriétés physiques à des valeurs de référence, réaliser des tests chimiques, observer ses aspects physiques : </a:t>
            </a:r>
            <a:r>
              <a:rPr sz="1500" b="0" i="1">
                <a:solidFill>
                  <a:srgbClr val="1D9AAA"/>
                </a:solidFill>
                <a:latin typeface="Calibri"/>
              </a:rPr>
              <a:t>aucune voie ne suffit seule, c'est leur faisceau qui identifie l'espèce.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Identifier une espèce chimique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A — les tests d'espèces chimiques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17</a:t>
            </a:r>
          </a:p>
        </p:txBody>
      </p:sp>
      <p:pic>
        <p:nvPicPr>
          <p:cNvPr id="12" name="Picture 11" descr="t1c1-test-flam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44000"/>
            <a:ext cx="5616000" cy="31345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000" y="4243311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16 — Test du dihydrogène : approché d'une flamme, H₂ produit une détonation.</a:t>
            </a:r>
          </a:p>
        </p:txBody>
      </p:sp>
      <p:pic>
        <p:nvPicPr>
          <p:cNvPr id="14" name="Picture 13" descr="t1c1-sulfate-cuiv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1044000"/>
            <a:ext cx="5616000" cy="31345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999" y="4243311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17 — Test de l'eau : le sulfate de cuivre anhydre, blanc, bleuit en présence d'eau.</a:t>
            </a:r>
          </a:p>
        </p:txBody>
      </p:sp>
      <p:pic>
        <p:nvPicPr>
          <p:cNvPr id="16" name="Picture 15" descr="t1c1-eau-de-chau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00" y="4860000"/>
            <a:ext cx="1960000" cy="126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92000" y="4860000"/>
            <a:ext cx="928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6B6F7A"/>
                </a:solidFill>
                <a:latin typeface="Courier New"/>
              </a:rPr>
              <a:t>Image 18 — Test à l'eau de chaux : elle se trouble en présence de dioxyde de carbone.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141A26"/>
                </a:solidFill>
                <a:latin typeface="Calibri"/>
              </a:rPr>
              <a:t>Le dioxyde de carbone trouble l'eau de chaux ; le dioxygène rallume une bûchette incandescente.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Identifier une espèce chimique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B — les tests des ions · s'exercer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18</a:t>
            </a:r>
          </a:p>
        </p:txBody>
      </p:sp>
      <p:pic>
        <p:nvPicPr>
          <p:cNvPr id="12" name="Picture 11" descr="t1c1-tests-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044000"/>
            <a:ext cx="6696000" cy="37373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000" y="4846102"/>
            <a:ext cx="669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Image 19 — Principaux tests de précipitation pour l'identification des ions en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6000" y="885600"/>
            <a:ext cx="14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B28A1D"/>
                </a:solidFill>
                <a:latin typeface="Courier New"/>
              </a:rPr>
              <a:t>SUR LA FICHE</a:t>
            </a:r>
          </a:p>
        </p:txBody>
      </p:sp>
      <p:sp>
        <p:nvSpPr>
          <p:cNvPr id="15" name="Oval 14"/>
          <p:cNvSpPr/>
          <p:nvPr/>
        </p:nvSpPr>
        <p:spPr>
          <a:xfrm>
            <a:off x="6750000" y="827999"/>
            <a:ext cx="259200" cy="259200"/>
          </a:xfrm>
          <a:prstGeom prst="ellipse">
            <a:avLst/>
          </a:prstGeom>
          <a:solidFill>
            <a:srgbClr val="B28A1D"/>
          </a:solidFill>
          <a:ln>
            <a:solidFill>
              <a:srgbClr val="B28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DFCF8"/>
                </a:solidFill>
                <a:latin typeface="Calibri"/>
              </a:rPr>
              <a:t>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3999" y="1007999"/>
            <a:ext cx="4536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On ajoute un réactif : l'ion cherché forme un précipité — un solide qui apparaît dans la solution.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1">
                <a:solidFill>
                  <a:srgbClr val="1D9AAA"/>
                </a:solidFill>
                <a:latin typeface="Calibri"/>
              </a:rPr>
              <a:t>C'est la couleur du précipité qui signe la présence de l'ion.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43999" y="2520000"/>
            <a:ext cx="4536000" cy="212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343999" y="2520000"/>
            <a:ext cx="46800" cy="21204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5999" y="2620800"/>
            <a:ext cx="417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6402B"/>
                </a:solidFill>
                <a:latin typeface="Courier New"/>
              </a:rPr>
              <a:t>EXERCICE 10 — UN LIQUIDE INCONNU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5999" y="2862000"/>
            <a:ext cx="4212000" cy="12377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A26"/>
                </a:solidFill>
                <a:latin typeface="Calibri"/>
              </a:rPr>
              <a:t>Vous avez fait subir à un liquide inconnu plusieurs tests. Le test à la flamme a été négatif, les tests à l'eau de chaux et au sulfate de cuivre anhydre ont été positifs. Enfin, le test au nitrate d'argent a donné un précipité blanc.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999" y="4189723"/>
            <a:ext cx="4212000" cy="30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141A26"/>
                </a:solidFill>
                <a:latin typeface="Calibri"/>
              </a:rPr>
              <a:t>Identifier ce liquide.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3000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124000" y="0"/>
            <a:ext cx="43200" cy="630000"/>
          </a:xfrm>
          <a:prstGeom prst="rect">
            <a:avLst/>
          </a:prstGeom>
          <a:solidFill>
            <a:srgbClr val="4A3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04000" y="0"/>
            <a:ext cx="43200" cy="630000"/>
          </a:xfrm>
          <a:prstGeom prst="rect">
            <a:avLst/>
          </a:prstGeom>
          <a:solidFill>
            <a:srgbClr val="1D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4000" y="0"/>
            <a:ext cx="43200" cy="630000"/>
          </a:xfrm>
          <a:prstGeom prst="rect">
            <a:avLst/>
          </a:prstGeom>
          <a:solidFill>
            <a:srgbClr val="D6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00800"/>
            <a:ext cx="108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DFCF8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08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DFCF8"/>
                </a:solidFill>
                <a:latin typeface="Cambria"/>
              </a:rPr>
              <a:t>Pour le DS, je sais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67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C4B8"/>
                </a:solidFill>
                <a:latin typeface="Courier New"/>
              </a:rPr>
              <a:t>les neuf compétences du chapitre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6263999"/>
            <a:ext cx="11545200" cy="14400"/>
          </a:xfrm>
          <a:prstGeom prst="rect">
            <a:avLst/>
          </a:prstGeom>
          <a:solidFill>
            <a:srgbClr val="E8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33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Thème 1 · Chapitre 1 — La matière à l'échelle macroscopique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9200" y="6336000"/>
            <a:ext cx="14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F7A"/>
                </a:solidFill>
                <a:latin typeface="Courier New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936000"/>
            <a:ext cx="56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28A1D"/>
                </a:solidFill>
                <a:latin typeface="Courier New"/>
                <a:hlinkClick r:id="rId2"/>
              </a:rPr>
              <a:t>► KAHOOT — </a:t>
            </a:r>
            <a:r>
              <a:rPr sz="1300" b="0" i="0">
                <a:solidFill>
                  <a:srgbClr val="B28A1D"/>
                </a:solidFill>
                <a:latin typeface="Courier New"/>
                <a:hlinkClick r:id="rId2"/>
              </a:rPr>
              <a:t>bilan du chapitre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936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A26"/>
                </a:solidFill>
                <a:latin typeface="Cambri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475999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999" y="1458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Utiliser le terme adapté parmi molécule, atome, anion et cation pour qualifier une entité chimique à partir d'une formule chimique donnée.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1988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999" y="1970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Reconnaître et citer des exemples courants de corps purs et de mélanges homogènes et hétérogènes.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2500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999" y="2482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Citer la composition approchée de l'air et l'ordre de grandeur de la valeur de sa masse volumique.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3012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999" y="2994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Connaître la notion de composition massique et volumique et maîtriser les applications numériques associées.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" y="3523999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7999" y="3505999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Connaître la notion de solubilité et maîtriser les applications numériques associées.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" y="4036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7999" y="4018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Citer la valeur de la masse volumique de l'eau liquide et la comparer à celles d'autres corps purs et mélanges.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000" y="4548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7999" y="4530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Maîtriser la formule utilisée pour calculer une densité ou une masse volumique.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000" y="5060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7999" y="5042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Citer des tests chimiques courants de présence d'eau, de dihydrogène, de dioxygène, de dioxyde de carbone.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" y="5572000"/>
            <a:ext cx="223200" cy="223200"/>
          </a:xfrm>
          <a:prstGeom prst="rect">
            <a:avLst/>
          </a:prstGeom>
          <a:solidFill>
            <a:srgbClr val="FFFFFF"/>
          </a:solidFill>
          <a:ln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7999" y="5554000"/>
            <a:ext cx="104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A26"/>
                </a:solidFill>
                <a:latin typeface="Calibri"/>
              </a:rPr>
              <a:t>Identifier, à partir de valeurs de référence, une espèce chimique par ses températures de changement d'état, sa masse volumique ou par des tests chimiques.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